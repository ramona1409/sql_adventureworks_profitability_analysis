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olors2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-296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oleObject" Target="file:///C:\Users\RamonaManolache\Desktop\SQL\1.Tabele%20queries%20si%20grafice_Proiect%20SQ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AvgDiscount and TotalGrossMargin evolution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'Tabel Slide 4_Query 4'!$C$1</c:f>
              <c:strCache>
                <c:ptCount val="1"/>
                <c:pt idx="0">
                  <c:v>TotalGrossMargin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'Tabel Slide 4_Query 4'!$A$2:$A$5</c:f>
              <c:strCache>
                <c:ptCount val="4"/>
                <c:pt idx="0">
                  <c:v>Bikes</c:v>
                </c:pt>
                <c:pt idx="1">
                  <c:v>Clothing</c:v>
                </c:pt>
                <c:pt idx="2">
                  <c:v>Accessories</c:v>
                </c:pt>
                <c:pt idx="3">
                  <c:v>Components</c:v>
                </c:pt>
              </c:strCache>
            </c:strRef>
          </c:cat>
          <c:val>
            <c:numRef>
              <c:f>'Tabel Slide 4_Query 4'!$C$2:$C$5</c:f>
              <c:numCache>
                <c:formatCode>_(* #,##0.00_);_(* \(#,##0.00\);_(* "-"??_);_(@_)</c:formatCode>
                <c:ptCount val="4"/>
                <c:pt idx="0">
                  <c:v>7936394.0554</c:v>
                </c:pt>
                <c:pt idx="1">
                  <c:v>308882.26809999999</c:v>
                </c:pt>
                <c:pt idx="2">
                  <c:v>636394.27549999999</c:v>
                </c:pt>
                <c:pt idx="3">
                  <c:v>490233.1704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269-4DE7-83D1-19512771E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940288"/>
        <c:axId val="130847872"/>
      </c:barChart>
      <c:lineChart>
        <c:grouping val="standard"/>
        <c:varyColors val="0"/>
        <c:ser>
          <c:idx val="0"/>
          <c:order val="0"/>
          <c:tx>
            <c:strRef>
              <c:f>'Tabel Slide 4_Query 4'!$B$1</c:f>
              <c:strCache>
                <c:ptCount val="1"/>
                <c:pt idx="0">
                  <c:v>AvgDiscount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'Tabel Slide 4_Query 4'!$A$2:$A$5</c:f>
              <c:strCache>
                <c:ptCount val="4"/>
                <c:pt idx="0">
                  <c:v>Bikes</c:v>
                </c:pt>
                <c:pt idx="1">
                  <c:v>Clothing</c:v>
                </c:pt>
                <c:pt idx="2">
                  <c:v>Accessories</c:v>
                </c:pt>
                <c:pt idx="3">
                  <c:v>Components</c:v>
                </c:pt>
              </c:strCache>
            </c:strRef>
          </c:cat>
          <c:val>
            <c:numRef>
              <c:f>'Tabel Slide 4_Query 4'!$B$2:$B$5</c:f>
              <c:numCache>
                <c:formatCode>General</c:formatCode>
                <c:ptCount val="4"/>
                <c:pt idx="0">
                  <c:v>6.4999999999999997E-3</c:v>
                </c:pt>
                <c:pt idx="1">
                  <c:v>2E-3</c:v>
                </c:pt>
                <c:pt idx="2">
                  <c:v>8.0000000000000004E-4</c:v>
                </c:pt>
                <c:pt idx="3">
                  <c:v>1E-4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9269-4DE7-83D1-19512771E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277184"/>
        <c:axId val="130849408"/>
      </c:lineChart>
      <c:catAx>
        <c:axId val="130940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847872"/>
        <c:crosses val="autoZero"/>
        <c:auto val="1"/>
        <c:lblAlgn val="ctr"/>
        <c:lblOffset val="100"/>
        <c:noMultiLvlLbl val="0"/>
      </c:catAx>
      <c:valAx>
        <c:axId val="13084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940288"/>
        <c:crosses val="autoZero"/>
        <c:crossBetween val="between"/>
      </c:valAx>
      <c:valAx>
        <c:axId val="13084940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277184"/>
        <c:crosses val="max"/>
        <c:crossBetween val="between"/>
      </c:valAx>
      <c:catAx>
        <c:axId val="1312771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084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206449949423827"/>
          <c:y val="9.925732899022803E-2"/>
          <c:w val="0.76136958950660139"/>
          <c:h val="0.8431054912924158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'Tabel Slide 5_Query 5'!$L$1</c:f>
              <c:strCache>
                <c:ptCount val="1"/>
                <c:pt idx="0">
                  <c:v> TotalGrossMargin 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/>
          </c:spPr>
          <c:invertIfNegative val="1"/>
          <c:cat>
            <c:strRef>
              <c:f>'Tabel Slide 5_Query 5'!$J$2:$J$11</c:f>
              <c:strCache>
                <c:ptCount val="10"/>
                <c:pt idx="0">
                  <c:v>Road-650 Red, 44</c:v>
                </c:pt>
                <c:pt idx="1">
                  <c:v>Touring-1000 Yellow, 60</c:v>
                </c:pt>
                <c:pt idx="2">
                  <c:v>Road-650 Red, 60</c:v>
                </c:pt>
                <c:pt idx="3">
                  <c:v>Touring-1000 Yellow, 46</c:v>
                </c:pt>
                <c:pt idx="4">
                  <c:v>Road-650 Black, 52</c:v>
                </c:pt>
                <c:pt idx="5">
                  <c:v>Mountain-200 Silver, 46</c:v>
                </c:pt>
                <c:pt idx="6">
                  <c:v>Mountain-200 Silver, 38</c:v>
                </c:pt>
                <c:pt idx="7">
                  <c:v>Mountain-200 Black, 46</c:v>
                </c:pt>
                <c:pt idx="8">
                  <c:v>Mountain-200 Black, 38</c:v>
                </c:pt>
                <c:pt idx="9">
                  <c:v>Mountain-200 Black, 42</c:v>
                </c:pt>
              </c:strCache>
            </c:strRef>
          </c:cat>
          <c:val>
            <c:numRef>
              <c:f>'Tabel Slide 5_Query 5'!$L$2:$L$11</c:f>
              <c:numCache>
                <c:formatCode>_(* #,##0.00_);_(* \(#,##0.00\);_(* "-"??_);_(@_)</c:formatCode>
                <c:ptCount val="10"/>
                <c:pt idx="0">
                  <c:v>-153696.11799999999</c:v>
                </c:pt>
                <c:pt idx="1">
                  <c:v>-132745.71780000001</c:v>
                </c:pt>
                <c:pt idx="2">
                  <c:v>-69800.112899999993</c:v>
                </c:pt>
                <c:pt idx="3">
                  <c:v>-62974.719899999996</c:v>
                </c:pt>
                <c:pt idx="4">
                  <c:v>-61914.200100000002</c:v>
                </c:pt>
                <c:pt idx="5">
                  <c:v>629644.12820000004</c:v>
                </c:pt>
                <c:pt idx="6">
                  <c:v>663784.93999999994</c:v>
                </c:pt>
                <c:pt idx="7">
                  <c:v>666740.69299999997</c:v>
                </c:pt>
                <c:pt idx="8">
                  <c:v>673444.47149999999</c:v>
                </c:pt>
                <c:pt idx="9">
                  <c:v>674216.57960000006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00C-407B-9D31-2AA439E7182C}"/>
            </c:ex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  <a:ln>
                    <a:noFill/>
                  </a:ln>
                  <a:effectLst/>
                </c14:spPr>
              </c14:invertSolidFillFmt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4482432"/>
        <c:axId val="185606528"/>
      </c:barChart>
      <c:catAx>
        <c:axId val="184482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606528"/>
        <c:crosses val="autoZero"/>
        <c:auto val="1"/>
        <c:lblAlgn val="ctr"/>
        <c:lblOffset val="100"/>
        <c:noMultiLvlLbl val="0"/>
      </c:catAx>
      <c:valAx>
        <c:axId val="1856065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82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BB7E0-E01B-4888-AD41-8FE11392CFE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95CAC-C3CE-4B9D-8922-AAA7937D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2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95CAC-C3CE-4B9D-8922-AAA7937D75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87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01FFE0-D31A-1935-2DAD-937FD0C21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54F783C-B49C-CC7C-51B1-A398E5868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2B1C694-90D9-147C-38F1-B65F29F8B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8874141-0DC5-3863-C479-57570254D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EC7A800-B363-A315-BE4F-78A769A5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6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C0BFFB-840E-3C51-E4F4-FB7F84BB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1FF30C-A3DE-3A4B-F376-C06961992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ED4F2D7-25FD-EB80-939C-453F2651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6C14454-3A64-F177-A37C-A02C0281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6E2A6A-9C44-9888-FFC6-58B8CDC6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7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5EA16B-C0F2-FCC5-7503-EB21DE21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3567828-823A-45C6-2D3F-8B432A91C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F0FA22B-D219-9BD3-304C-0CE63D3C3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2922FFC-D6A1-3DE0-AD5C-0D0E61DF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AA89AA-7E46-DACA-C708-35404CE0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9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778D4C-8DC5-8047-A7F8-F3491405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AC1C6F-AE12-8BBF-4D5D-35F092415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A65DA58-4F0A-22E3-6E9A-7176E59B6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E9246D6-CBBB-FE8E-0127-9724FD2A5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8DDDE01-F18C-398E-047A-778EC4D8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4A449B7-3406-4692-E139-981CBA1E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3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391647-9A82-2B0B-950C-6DCF2C34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2AA0DAE-C32F-697D-793A-0A699853F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FACF804-9AC5-A7EF-F124-3949B6A97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027CF54-864B-F89A-B414-5ED79C5C6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8AE232F-A11F-EDAA-2D1D-0F505A466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E0B01C0-343D-9DD7-B6BA-34EBEEB5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A1506023-36C0-7849-00AB-8713C15B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371B977-8596-6FC9-5DFB-E6EE38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51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D6B6A3-2055-9FB0-B475-E53816B5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43610C3-6C92-6ABA-01BC-DE4C2529C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BE5A3D4-FC2D-46F0-3305-614D1B4B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371B7B7-D7EF-5364-C17D-65186723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5A8322E-2B50-2EC5-CD31-A108DC60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81C0C64-8744-90D3-CBFF-BA8ABBC6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72B7BC-10A7-C8B6-2DFF-480A0045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39E50C-2948-B4EE-69A3-CA412A33A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9B90015-739E-AB89-7425-247D1D8DD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065F243-2ECB-1D08-0DB0-B02FD6F6F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7E1C2B6-546E-10B6-0001-0F944461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0A44F8D-684F-54F5-4114-DC2EEEF9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7FC1AE1-B701-51F5-44FD-0ABB63D7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6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D43906-0669-80D5-AAEA-C518D2BD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A3CD83E-6DC3-2C0A-3EAF-06B346599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09BA7C6-D7F2-CDF5-B673-0A803069F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4CF5090-FE89-8422-5569-C90A7B74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4A5DF48-1C40-28DB-C876-6D664420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62B8475-B409-A8A5-80AA-AEAD8FCD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2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89F7B4-0D88-C7EF-E8E1-EE6F4D61F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75C1E19-09DB-3CDF-4F79-8235FA01E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8D930A5-9A7B-3B4F-9ECE-A6C76E131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EE813F-5E11-FFC8-91EB-740C1F7B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59AA1B4-DB65-7575-76E1-F40AD3CA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2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568E304-97F3-2016-F639-B13996698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1D2D743-5D80-6D5D-C96C-7FAFF11A7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317A32F-6B54-A840-6E9A-B0CBD042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E7F2088-D4D9-9AFE-7516-08156036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6D209A4-9B7A-9D3D-AE9C-87917F80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9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B9DDF13-7BF9-C8B8-0257-DD762265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F0237D5-F3D9-BB60-7BD8-B69630F33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8E4798D-B815-91F1-C199-1724E5BE2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5618A-7D54-4568-9337-262F869AB1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22985F-891C-D503-ACF1-262CA00A4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2FE979-C6B8-ED98-D11B-4CBC4F04E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551C1-6C8A-49BD-BB88-C40B6722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7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DAF1966E-FD40-4A4A-B61B-C4DF7FA05F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047BFA19-D45E-416B-A404-7AF2F3F270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8E0105E7-23DB-4CF2-8258-FF47C7620F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044453-57FA-98F9-3B5F-36605D260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sz="1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1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Analiza </a:t>
            </a:r>
            <a:r>
              <a:rPr lang="en-US" sz="4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Profitabilitatii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Proiect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SQL-Analiza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datelor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AdventureWorks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1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074B4F7D-14B2-478B-8BF5-01E4E0C5D2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4D33E74-BE66-6A31-5F27-E80F0E139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algn="l"/>
            <a:r>
              <a:rPr lang="en-US" dirty="0"/>
              <a:t>      </a:t>
            </a:r>
            <a:r>
              <a:rPr lang="en-US" u="sng" dirty="0" smtClean="0"/>
              <a:t>Student </a:t>
            </a:r>
            <a:r>
              <a:rPr lang="en-US" dirty="0" smtClean="0"/>
              <a:t>                                                 Curs</a:t>
            </a:r>
            <a:r>
              <a:rPr lang="en-US" dirty="0"/>
              <a:t>: Data Analyst-Modul SQL</a:t>
            </a:r>
          </a:p>
          <a:p>
            <a:pPr algn="l"/>
            <a:r>
              <a:rPr lang="en-US" dirty="0"/>
              <a:t>Manolache Ramona   </a:t>
            </a:r>
          </a:p>
          <a:p>
            <a:pPr algn="l"/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5992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DAF1966E-FD40-4A4A-B61B-C4DF7FA05F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047BFA19-D45E-416B-A404-7AF2F3F270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8E0105E7-23DB-4CF2-8258-FF47C7620F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6BA5BB-C8BC-3FA0-A578-D6230FC7D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b="1" dirty="0"/>
              <a:t>1.Profilul </a:t>
            </a:r>
            <a:r>
              <a:rPr lang="en-US" sz="4000" b="1" dirty="0" err="1"/>
              <a:t>companiei-AdventureWorks</a:t>
            </a:r>
            <a:endParaRPr lang="en-US" sz="40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074B4F7D-14B2-478B-8BF5-01E4E0C5D2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B01C29-86A4-FC46-48F5-AC6657023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err="1"/>
              <a:t>AdventureWorks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un model de business din </a:t>
            </a:r>
            <a:r>
              <a:rPr lang="en-US" sz="2200" dirty="0" err="1"/>
              <a:t>industria</a:t>
            </a:r>
            <a:r>
              <a:rPr lang="en-US" sz="2200" dirty="0"/>
              <a:t> de </a:t>
            </a:r>
            <a:r>
              <a:rPr lang="en-US" sz="2200" dirty="0" err="1"/>
              <a:t>productie</a:t>
            </a:r>
            <a:r>
              <a:rPr lang="en-US" sz="2200" dirty="0"/>
              <a:t> </a:t>
            </a:r>
            <a:r>
              <a:rPr lang="en-US" sz="2200" dirty="0" err="1"/>
              <a:t>si</a:t>
            </a:r>
            <a:r>
              <a:rPr lang="en-US" sz="2200" dirty="0"/>
              <a:t> </a:t>
            </a:r>
            <a:r>
              <a:rPr lang="en-US" sz="2200" dirty="0" err="1"/>
              <a:t>distributie</a:t>
            </a:r>
            <a:r>
              <a:rPr lang="en-US" sz="2200" dirty="0"/>
              <a:t> </a:t>
            </a:r>
            <a:r>
              <a:rPr lang="en-US" sz="2200" dirty="0" err="1"/>
              <a:t>globala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 err="1"/>
              <a:t>Profilul</a:t>
            </a:r>
            <a:r>
              <a:rPr lang="en-US" sz="2200" b="1" dirty="0"/>
              <a:t> </a:t>
            </a:r>
            <a:r>
              <a:rPr lang="en-US" sz="2200" b="1" dirty="0" err="1"/>
              <a:t>companiei</a:t>
            </a:r>
            <a:endParaRPr lang="en-US" sz="2200" b="1" dirty="0"/>
          </a:p>
          <a:p>
            <a:r>
              <a:rPr lang="en-US" sz="2200" dirty="0" err="1"/>
              <a:t>Activeaza</a:t>
            </a:r>
            <a:r>
              <a:rPr lang="en-US" sz="2200" dirty="0"/>
              <a:t> in </a:t>
            </a:r>
            <a:r>
              <a:rPr lang="en-US" sz="2200" dirty="0" err="1"/>
              <a:t>industria</a:t>
            </a:r>
            <a:r>
              <a:rPr lang="en-US" sz="2200" dirty="0"/>
              <a:t> de </a:t>
            </a:r>
            <a:r>
              <a:rPr lang="en-US" sz="2200" dirty="0" err="1"/>
              <a:t>productie</a:t>
            </a:r>
            <a:r>
              <a:rPr lang="en-US" sz="2200" dirty="0"/>
              <a:t> </a:t>
            </a:r>
          </a:p>
          <a:p>
            <a:r>
              <a:rPr lang="en-US" sz="2200" dirty="0"/>
              <a:t>Produce </a:t>
            </a:r>
            <a:r>
              <a:rPr lang="en-US" sz="2200" dirty="0" err="1"/>
              <a:t>si</a:t>
            </a:r>
            <a:r>
              <a:rPr lang="en-US" sz="2200" dirty="0"/>
              <a:t> </a:t>
            </a:r>
            <a:r>
              <a:rPr lang="en-US" sz="2200" dirty="0" err="1"/>
              <a:t>comercializeaza</a:t>
            </a:r>
            <a:r>
              <a:rPr lang="en-US" sz="2200" dirty="0"/>
              <a:t> </a:t>
            </a:r>
            <a:r>
              <a:rPr lang="en-US" sz="2200" dirty="0" err="1"/>
              <a:t>biciclete</a:t>
            </a:r>
            <a:r>
              <a:rPr lang="en-US" sz="2200" dirty="0"/>
              <a:t>, </a:t>
            </a:r>
            <a:r>
              <a:rPr lang="en-US" sz="2200" dirty="0" err="1"/>
              <a:t>echipament</a:t>
            </a:r>
            <a:r>
              <a:rPr lang="en-US" sz="2200" dirty="0"/>
              <a:t> </a:t>
            </a:r>
            <a:r>
              <a:rPr lang="en-US" sz="2200" dirty="0" err="1"/>
              <a:t>sportiv</a:t>
            </a:r>
            <a:r>
              <a:rPr lang="en-US" sz="2200" dirty="0"/>
              <a:t>, </a:t>
            </a:r>
            <a:r>
              <a:rPr lang="en-US" sz="2200" dirty="0" err="1"/>
              <a:t>componente</a:t>
            </a:r>
            <a:r>
              <a:rPr lang="en-US" sz="2200" dirty="0"/>
              <a:t> </a:t>
            </a:r>
            <a:r>
              <a:rPr lang="en-US" sz="2200" dirty="0" err="1"/>
              <a:t>si</a:t>
            </a:r>
            <a:r>
              <a:rPr lang="en-US" sz="2200" dirty="0"/>
              <a:t> </a:t>
            </a:r>
            <a:r>
              <a:rPr lang="en-US" sz="2200" dirty="0" err="1"/>
              <a:t>accesorii</a:t>
            </a:r>
            <a:r>
              <a:rPr lang="en-US" sz="2200" dirty="0"/>
              <a:t> </a:t>
            </a:r>
          </a:p>
          <a:p>
            <a:r>
              <a:rPr lang="en-US" sz="2200" dirty="0" err="1"/>
              <a:t>Functioneaza</a:t>
            </a:r>
            <a:r>
              <a:rPr lang="en-US" sz="2200" dirty="0"/>
              <a:t> </a:t>
            </a:r>
            <a:r>
              <a:rPr lang="en-US" sz="2200" dirty="0" err="1"/>
              <a:t>intr</a:t>
            </a:r>
            <a:r>
              <a:rPr lang="en-US" sz="2200" dirty="0"/>
              <a:t>-un model de business B2C </a:t>
            </a:r>
            <a:r>
              <a:rPr lang="en-US" sz="2200" dirty="0" err="1"/>
              <a:t>și</a:t>
            </a:r>
            <a:r>
              <a:rPr lang="en-US" sz="2200" dirty="0"/>
              <a:t> B2B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5502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DAF1966E-FD40-4A4A-B61B-C4DF7FA05F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047BFA19-D45E-416B-A404-7AF2F3F270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8E0105E7-23DB-4CF2-8258-FF47C7620F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4AB9F7-191F-8FE9-C921-B1F27219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b="1" dirty="0"/>
              <a:t>2.Obiective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074B4F7D-14B2-478B-8BF5-01E4E0C5D2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A0EAA73-B27B-27E8-1096-5D90824B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err="1"/>
              <a:t>Scopul</a:t>
            </a:r>
            <a:r>
              <a:rPr lang="en-US" sz="2200" dirty="0"/>
              <a:t> </a:t>
            </a:r>
            <a:r>
              <a:rPr lang="en-US" sz="2200" dirty="0" err="1"/>
              <a:t>acestei</a:t>
            </a:r>
            <a:r>
              <a:rPr lang="en-US" sz="2200" dirty="0"/>
              <a:t> </a:t>
            </a:r>
            <a:r>
              <a:rPr lang="en-US" sz="2200" dirty="0" err="1"/>
              <a:t>analize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de a </a:t>
            </a:r>
            <a:r>
              <a:rPr lang="en-US" sz="2200" dirty="0" err="1"/>
              <a:t>identifica</a:t>
            </a:r>
            <a:r>
              <a:rPr lang="en-US" sz="2200" dirty="0"/>
              <a:t> </a:t>
            </a:r>
            <a:r>
              <a:rPr lang="en-US" sz="2200" dirty="0" err="1"/>
              <a:t>factorii</a:t>
            </a:r>
            <a:r>
              <a:rPr lang="en-US" sz="2200" dirty="0"/>
              <a:t> care </a:t>
            </a:r>
            <a:r>
              <a:rPr lang="en-US" sz="2200" dirty="0" err="1"/>
              <a:t>influenteaza</a:t>
            </a:r>
            <a:r>
              <a:rPr lang="en-US" sz="2200" dirty="0"/>
              <a:t> </a:t>
            </a:r>
            <a:r>
              <a:rPr lang="en-US" sz="2200" dirty="0" err="1"/>
              <a:t>profitabilitatea</a:t>
            </a:r>
            <a:r>
              <a:rPr lang="en-US" sz="2200" dirty="0"/>
              <a:t> </a:t>
            </a:r>
            <a:r>
              <a:rPr lang="en-US" sz="2200" dirty="0" err="1"/>
              <a:t>companiei</a:t>
            </a:r>
            <a:r>
              <a:rPr lang="en-US" sz="2200" dirty="0"/>
              <a:t>, </a:t>
            </a:r>
            <a:r>
              <a:rPr lang="en-US" sz="2200" dirty="0" err="1"/>
              <a:t>avand</a:t>
            </a:r>
            <a:r>
              <a:rPr lang="en-US" sz="2200" dirty="0"/>
              <a:t> in </a:t>
            </a:r>
            <a:r>
              <a:rPr lang="en-US" sz="2200" dirty="0" err="1"/>
              <a:t>vedere</a:t>
            </a:r>
            <a:r>
              <a:rPr lang="en-US" sz="2200" dirty="0"/>
              <a:t> </a:t>
            </a:r>
            <a:r>
              <a:rPr lang="en-US" sz="2200" dirty="0" err="1"/>
              <a:t>veniturile</a:t>
            </a:r>
            <a:r>
              <a:rPr lang="en-US" sz="2200" dirty="0"/>
              <a:t> generate, </a:t>
            </a:r>
            <a:r>
              <a:rPr lang="en-US" sz="2200" dirty="0" err="1"/>
              <a:t>marja</a:t>
            </a:r>
            <a:r>
              <a:rPr lang="en-US" sz="2200" dirty="0"/>
              <a:t> </a:t>
            </a:r>
            <a:r>
              <a:rPr lang="en-US" sz="2200" dirty="0" err="1"/>
              <a:t>bruta</a:t>
            </a:r>
            <a:r>
              <a:rPr lang="en-US" sz="2200" dirty="0"/>
              <a:t> </a:t>
            </a:r>
            <a:r>
              <a:rPr lang="en-US" sz="2200" dirty="0" err="1"/>
              <a:t>si</a:t>
            </a:r>
            <a:r>
              <a:rPr lang="en-US" sz="2200" dirty="0"/>
              <a:t> </a:t>
            </a:r>
            <a:r>
              <a:rPr lang="en-US" sz="2200" dirty="0" err="1"/>
              <a:t>impactul</a:t>
            </a:r>
            <a:r>
              <a:rPr lang="en-US" sz="2200" dirty="0"/>
              <a:t> </a:t>
            </a:r>
            <a:r>
              <a:rPr lang="en-US" sz="2200" dirty="0" err="1"/>
              <a:t>discounturilor</a:t>
            </a:r>
            <a:r>
              <a:rPr lang="en-US" sz="2200" dirty="0"/>
              <a:t>. 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Ce </a:t>
            </a:r>
            <a:r>
              <a:rPr lang="en-US" sz="2200" b="1" dirty="0" err="1"/>
              <a:t>urmarim</a:t>
            </a:r>
            <a:r>
              <a:rPr lang="en-US" sz="2200" b="1" dirty="0"/>
              <a:t> in </a:t>
            </a:r>
            <a:r>
              <a:rPr lang="en-US" sz="2200" b="1" dirty="0" err="1"/>
              <a:t>analiza</a:t>
            </a:r>
            <a:endParaRPr lang="en-US" sz="2200" dirty="0"/>
          </a:p>
          <a:p>
            <a:r>
              <a:rPr lang="en-US" sz="2200" dirty="0"/>
              <a:t>Daca </a:t>
            </a:r>
            <a:r>
              <a:rPr lang="en-US" sz="2200" dirty="0" err="1"/>
              <a:t>profitabilitatea</a:t>
            </a:r>
            <a:r>
              <a:rPr lang="en-US" sz="2200" dirty="0"/>
              <a:t> </a:t>
            </a:r>
            <a:r>
              <a:rPr lang="en-US" sz="2200" dirty="0" err="1"/>
              <a:t>variaza</a:t>
            </a:r>
            <a:r>
              <a:rPr lang="en-US" sz="2200" dirty="0"/>
              <a:t> in </a:t>
            </a:r>
            <a:r>
              <a:rPr lang="en-US" sz="2200" dirty="0" err="1"/>
              <a:t>functie</a:t>
            </a:r>
            <a:r>
              <a:rPr lang="en-US" sz="2200" dirty="0"/>
              <a:t> de </a:t>
            </a:r>
            <a:r>
              <a:rPr lang="en-US" sz="2200" dirty="0" err="1"/>
              <a:t>sezon</a:t>
            </a:r>
            <a:endParaRPr lang="en-US" sz="2200" dirty="0"/>
          </a:p>
          <a:p>
            <a:r>
              <a:rPr lang="en-US" sz="2200" dirty="0"/>
              <a:t>Daca </a:t>
            </a:r>
            <a:r>
              <a:rPr lang="en-US" sz="2200" dirty="0" err="1"/>
              <a:t>veniturile</a:t>
            </a:r>
            <a:r>
              <a:rPr lang="en-US" sz="2200" dirty="0"/>
              <a:t> </a:t>
            </a:r>
            <a:r>
              <a:rPr lang="en-US" sz="2200" dirty="0" err="1"/>
              <a:t>si</a:t>
            </a:r>
            <a:r>
              <a:rPr lang="en-US" sz="2200" dirty="0"/>
              <a:t> </a:t>
            </a:r>
            <a:r>
              <a:rPr lang="en-US" sz="2200" dirty="0" err="1"/>
              <a:t>profitul</a:t>
            </a:r>
            <a:r>
              <a:rPr lang="en-US" sz="2200" dirty="0"/>
              <a:t> </a:t>
            </a:r>
            <a:r>
              <a:rPr lang="en-US" sz="2200" dirty="0" err="1"/>
              <a:t>evolueaza</a:t>
            </a:r>
            <a:r>
              <a:rPr lang="en-US" sz="2200" dirty="0"/>
              <a:t> in </a:t>
            </a:r>
            <a:r>
              <a:rPr lang="en-US" sz="2200" dirty="0" err="1"/>
              <a:t>acelasi</a:t>
            </a:r>
            <a:r>
              <a:rPr lang="en-US" sz="2200" dirty="0"/>
              <a:t> mod in </a:t>
            </a:r>
            <a:r>
              <a:rPr lang="en-US" sz="2200" dirty="0" err="1"/>
              <a:t>timp</a:t>
            </a:r>
            <a:endParaRPr lang="en-US" sz="2200" dirty="0"/>
          </a:p>
          <a:p>
            <a:r>
              <a:rPr lang="en-US" sz="2200" dirty="0"/>
              <a:t>Cum </a:t>
            </a:r>
            <a:r>
              <a:rPr lang="en-US" sz="2200" dirty="0" err="1"/>
              <a:t>influenteaza</a:t>
            </a:r>
            <a:r>
              <a:rPr lang="en-US" sz="2200" dirty="0"/>
              <a:t> </a:t>
            </a:r>
            <a:r>
              <a:rPr lang="en-US" sz="2200" dirty="0" err="1"/>
              <a:t>discounturile</a:t>
            </a:r>
            <a:r>
              <a:rPr lang="en-US" sz="2200" dirty="0"/>
              <a:t> </a:t>
            </a:r>
            <a:r>
              <a:rPr lang="en-US" sz="2200" dirty="0" err="1"/>
              <a:t>profitul</a:t>
            </a:r>
            <a:r>
              <a:rPr lang="en-US" sz="2200" dirty="0"/>
              <a:t> </a:t>
            </a:r>
            <a:r>
              <a:rPr lang="en-US" sz="2200" dirty="0" err="1"/>
              <a:t>companiei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8045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DAF1966E-FD40-4A4A-B61B-C4DF7FA05F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047BFA19-D45E-416B-A404-7AF2F3F270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8E0105E7-23DB-4CF2-8258-FF47C7620F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1F6E56-44CF-5934-8F52-44C1CEC6E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b="1" dirty="0"/>
              <a:t>3.Sursa </a:t>
            </a:r>
            <a:r>
              <a:rPr lang="en-US" sz="4000" b="1" dirty="0" err="1"/>
              <a:t>datelor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074B4F7D-14B2-478B-8BF5-01E4E0C5D2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84428D-F85F-D4F5-439B-2F2C06EFB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Analiza </a:t>
            </a:r>
            <a:r>
              <a:rPr lang="en-US" sz="2200" dirty="0" err="1"/>
              <a:t>este</a:t>
            </a:r>
            <a:r>
              <a:rPr lang="en-US" sz="2200" dirty="0"/>
              <a:t> </a:t>
            </a:r>
            <a:r>
              <a:rPr lang="en-US" sz="2200" dirty="0" err="1"/>
              <a:t>realizata</a:t>
            </a:r>
            <a:r>
              <a:rPr lang="en-US" sz="2200" dirty="0"/>
              <a:t> </a:t>
            </a:r>
            <a:r>
              <a:rPr lang="en-US" sz="2200" dirty="0" err="1"/>
              <a:t>utilizand</a:t>
            </a:r>
            <a:r>
              <a:rPr lang="en-US" sz="2200" dirty="0"/>
              <a:t> </a:t>
            </a:r>
            <a:r>
              <a:rPr lang="en-US" sz="2200" dirty="0" err="1"/>
              <a:t>baza</a:t>
            </a:r>
            <a:r>
              <a:rPr lang="en-US" sz="2200" dirty="0"/>
              <a:t> de date </a:t>
            </a:r>
            <a:r>
              <a:rPr lang="en-US" sz="2200" dirty="0" err="1"/>
              <a:t>AdventureWorks</a:t>
            </a:r>
            <a:r>
              <a:rPr lang="en-US" sz="2200" dirty="0"/>
              <a:t> 2022.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 err="1"/>
              <a:t>Tabele</a:t>
            </a:r>
            <a:r>
              <a:rPr lang="en-US" sz="2200" b="1" dirty="0"/>
              <a:t> </a:t>
            </a:r>
            <a:r>
              <a:rPr lang="en-US" sz="2200" b="1" dirty="0" err="1"/>
              <a:t>utilizate</a:t>
            </a:r>
            <a:endParaRPr lang="en-US" sz="2200" b="1" dirty="0"/>
          </a:p>
          <a:p>
            <a:r>
              <a:rPr lang="en-US" sz="2200" dirty="0" err="1"/>
              <a:t>Sales.SalesOrderHeader</a:t>
            </a:r>
            <a:endParaRPr lang="en-US" sz="2200" dirty="0"/>
          </a:p>
          <a:p>
            <a:r>
              <a:rPr lang="en-US" sz="2200" dirty="0" err="1"/>
              <a:t>Sales.SalesOrderDetail</a:t>
            </a:r>
            <a:endParaRPr lang="en-US" sz="2200" dirty="0"/>
          </a:p>
          <a:p>
            <a:r>
              <a:rPr lang="en-US" sz="2200" dirty="0" err="1"/>
              <a:t>Production.Product</a:t>
            </a:r>
            <a:endParaRPr lang="en-US" sz="2200" dirty="0"/>
          </a:p>
          <a:p>
            <a:r>
              <a:rPr lang="en-US" sz="2200" dirty="0" err="1"/>
              <a:t>Production.ProductSubcategory</a:t>
            </a:r>
            <a:endParaRPr lang="en-US" sz="2200" dirty="0"/>
          </a:p>
          <a:p>
            <a:r>
              <a:rPr lang="en-US" sz="2200" dirty="0" err="1"/>
              <a:t>Production.ProductCategory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9625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2550BE34-C2B8-49B8-8519-67A8CAD51AE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A7457DD9-5A45-400A-AB4B-4B4EDECA25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BBB389-B488-213C-5B14-6A0103A1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 b="1" dirty="0"/>
              <a:t>4.Baza de date </a:t>
            </a:r>
            <a:r>
              <a:rPr lang="en-US" sz="3200" b="1" dirty="0" err="1"/>
              <a:t>pentru</a:t>
            </a:r>
            <a:r>
              <a:rPr lang="en-US" sz="3200" b="1" dirty="0"/>
              <a:t> </a:t>
            </a:r>
            <a:r>
              <a:rPr lang="en-US" sz="3200" b="1" dirty="0" err="1"/>
              <a:t>analiza</a:t>
            </a:r>
            <a:r>
              <a:rPr lang="en-US" sz="3200" b="1" dirty="0"/>
              <a:t> </a:t>
            </a:r>
            <a:r>
              <a:rPr lang="en-US" sz="3200" b="1" dirty="0" err="1"/>
              <a:t>profitabilitatii</a:t>
            </a:r>
            <a:endParaRPr lang="en-US" sz="320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441CF7D6-A660-431A-B0BB-140A0D5556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0570A85B-3810-4F95-97B0-CBF4CCDB38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5C4BAD2-7FE0-07E1-E9D9-450EF0642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Analizam</a:t>
            </a:r>
            <a:r>
              <a:rPr lang="en-US" sz="2000" dirty="0"/>
              <a:t> </a:t>
            </a:r>
            <a:r>
              <a:rPr lang="en-US" sz="2000" dirty="0" err="1"/>
              <a:t>indicatorii</a:t>
            </a:r>
            <a:r>
              <a:rPr lang="en-US" sz="2000" dirty="0"/>
              <a:t> KPI</a:t>
            </a:r>
            <a:r>
              <a:rPr lang="it-IT" sz="2000" dirty="0"/>
              <a:t> pentru fiecare produs si categoria din care face parte</a:t>
            </a:r>
            <a:r>
              <a:rPr lang="en-US" sz="2000" dirty="0"/>
              <a:t>: </a:t>
            </a:r>
            <a:r>
              <a:rPr lang="en-US" sz="2000" dirty="0" err="1"/>
              <a:t>venitul</a:t>
            </a:r>
            <a:r>
              <a:rPr lang="en-US" sz="2000" dirty="0"/>
              <a:t>, </a:t>
            </a:r>
            <a:r>
              <a:rPr lang="en-US" sz="2000" dirty="0" err="1"/>
              <a:t>marja</a:t>
            </a:r>
            <a:r>
              <a:rPr lang="en-US" sz="2000" dirty="0"/>
              <a:t> </a:t>
            </a:r>
            <a:r>
              <a:rPr lang="en-US" sz="2000" dirty="0" err="1"/>
              <a:t>bruta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discountul</a:t>
            </a:r>
            <a:r>
              <a:rPr lang="en-US" sz="2000" dirty="0"/>
              <a:t> </a:t>
            </a:r>
            <a:r>
              <a:rPr lang="en-US" sz="2000" dirty="0" err="1"/>
              <a:t>aplicat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FD864EBF-569F-5C57-9FBA-87E3792F5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124134"/>
              </p:ext>
            </p:extLst>
          </p:nvPr>
        </p:nvGraphicFramePr>
        <p:xfrm>
          <a:off x="557784" y="2769626"/>
          <a:ext cx="11164827" cy="341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573">
                  <a:extLst>
                    <a:ext uri="{9D8B030D-6E8A-4147-A177-3AD203B41FA5}">
                      <a16:colId xmlns="" xmlns:a16="http://schemas.microsoft.com/office/drawing/2014/main" val="1100529714"/>
                    </a:ext>
                  </a:extLst>
                </a:gridCol>
                <a:gridCol w="1720674">
                  <a:extLst>
                    <a:ext uri="{9D8B030D-6E8A-4147-A177-3AD203B41FA5}">
                      <a16:colId xmlns="" xmlns:a16="http://schemas.microsoft.com/office/drawing/2014/main" val="1678654300"/>
                    </a:ext>
                  </a:extLst>
                </a:gridCol>
                <a:gridCol w="1242247">
                  <a:extLst>
                    <a:ext uri="{9D8B030D-6E8A-4147-A177-3AD203B41FA5}">
                      <a16:colId xmlns="" xmlns:a16="http://schemas.microsoft.com/office/drawing/2014/main" val="3962886876"/>
                    </a:ext>
                  </a:extLst>
                </a:gridCol>
                <a:gridCol w="1396175">
                  <a:extLst>
                    <a:ext uri="{9D8B030D-6E8A-4147-A177-3AD203B41FA5}">
                      <a16:colId xmlns="" xmlns:a16="http://schemas.microsoft.com/office/drawing/2014/main" val="202629073"/>
                    </a:ext>
                  </a:extLst>
                </a:gridCol>
                <a:gridCol w="1254727">
                  <a:extLst>
                    <a:ext uri="{9D8B030D-6E8A-4147-A177-3AD203B41FA5}">
                      <a16:colId xmlns="" xmlns:a16="http://schemas.microsoft.com/office/drawing/2014/main" val="3858754159"/>
                    </a:ext>
                  </a:extLst>
                </a:gridCol>
                <a:gridCol w="1487701">
                  <a:extLst>
                    <a:ext uri="{9D8B030D-6E8A-4147-A177-3AD203B41FA5}">
                      <a16:colId xmlns="" xmlns:a16="http://schemas.microsoft.com/office/drawing/2014/main" val="8615399"/>
                    </a:ext>
                  </a:extLst>
                </a:gridCol>
                <a:gridCol w="2007730">
                  <a:extLst>
                    <a:ext uri="{9D8B030D-6E8A-4147-A177-3AD203B41FA5}">
                      <a16:colId xmlns="" xmlns:a16="http://schemas.microsoft.com/office/drawing/2014/main" val="281394711"/>
                    </a:ext>
                  </a:extLst>
                </a:gridCol>
              </a:tblGrid>
              <a:tr h="3358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ProductName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CategoryName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OrderYear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OrderMonth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Revenue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GrossMargin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UnitPriceDiscount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extLst>
                  <a:ext uri="{0D108BD9-81ED-4DB2-BD59-A6C34878D82A}">
                    <a16:rowId xmlns="" xmlns:a16="http://schemas.microsoft.com/office/drawing/2014/main" val="1603885438"/>
                  </a:ext>
                </a:extLst>
              </a:tr>
              <a:tr h="6153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Long-Sleeve Logo Jersey, 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Clothing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2011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        300.54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         122.88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extLst>
                  <a:ext uri="{0D108BD9-81ED-4DB2-BD59-A6C34878D82A}">
                    <a16:rowId xmlns="" xmlns:a16="http://schemas.microsoft.com/office/drawing/2014/main" val="2734009984"/>
                  </a:ext>
                </a:extLst>
              </a:tr>
              <a:tr h="6153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Mountain Bike Socks, 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Clothing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2011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        111.15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             22.85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extLst>
                  <a:ext uri="{0D108BD9-81ED-4DB2-BD59-A6C34878D82A}">
                    <a16:rowId xmlns="" xmlns:a16="http://schemas.microsoft.com/office/drawing/2014/main" val="4049063840"/>
                  </a:ext>
                </a:extLst>
              </a:tr>
              <a:tr h="6153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Mountain Bike Socks, 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Clothing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2011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        109.20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             34.49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extLst>
                  <a:ext uri="{0D108BD9-81ED-4DB2-BD59-A6C34878D82A}">
                    <a16:rowId xmlns="" xmlns:a16="http://schemas.microsoft.com/office/drawing/2014/main" val="1784706241"/>
                  </a:ext>
                </a:extLst>
              </a:tr>
              <a:tr h="6153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Mountain-100 Black, 44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Bikes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2011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  21,101.79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           222.75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extLst>
                  <a:ext uri="{0D108BD9-81ED-4DB2-BD59-A6C34878D82A}">
                    <a16:rowId xmlns="" xmlns:a16="http://schemas.microsoft.com/office/drawing/2014/main" val="233968594"/>
                  </a:ext>
                </a:extLst>
              </a:tr>
              <a:tr h="6153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Road-650 Black, 52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Bikes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2011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    4,768.41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      1,072.07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20" marR="8320" marT="8320" marB="0" anchor="b"/>
                </a:tc>
                <a:extLst>
                  <a:ext uri="{0D108BD9-81ED-4DB2-BD59-A6C34878D82A}">
                    <a16:rowId xmlns="" xmlns:a16="http://schemas.microsoft.com/office/drawing/2014/main" val="3124701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53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BCF941-2484-8741-FCB2-ADCA88B2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/>
            </a:r>
            <a:br>
              <a:rPr lang="it-IT" dirty="0"/>
            </a:br>
            <a:r>
              <a:rPr lang="it-IT" dirty="0"/>
              <a:t/>
            </a:r>
            <a:br>
              <a:rPr lang="it-IT" dirty="0"/>
            </a:br>
            <a:r>
              <a:rPr lang="it-IT" b="1" dirty="0"/>
              <a:t>5</a:t>
            </a:r>
            <a:r>
              <a:rPr lang="it-IT" dirty="0"/>
              <a:t>.</a:t>
            </a:r>
            <a:r>
              <a:rPr lang="it-IT" b="1" dirty="0"/>
              <a:t>Dinamica sezoniera a marjei si discountului</a:t>
            </a:r>
            <a:r>
              <a:rPr lang="it-IT" dirty="0"/>
              <a:t/>
            </a:r>
            <a:br>
              <a:rPr lang="it-IT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08452A83-A4E4-2272-5D18-58C584AEC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90688"/>
            <a:ext cx="5183188" cy="187801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r>
              <a:rPr lang="en-US" sz="1400" u="sng" dirty="0"/>
              <a:t>Clothing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Categoria</a:t>
            </a:r>
            <a:r>
              <a:rPr lang="en-US" sz="1400" b="0" dirty="0"/>
              <a:t> Clothing </a:t>
            </a:r>
            <a:r>
              <a:rPr lang="en-US" sz="1400" b="0" dirty="0" err="1"/>
              <a:t>prezinta</a:t>
            </a:r>
            <a:r>
              <a:rPr lang="en-US" sz="1400" b="0" dirty="0"/>
              <a:t> o </a:t>
            </a:r>
            <a:r>
              <a:rPr lang="en-US" sz="1400" b="0" dirty="0" err="1"/>
              <a:t>evolutie</a:t>
            </a:r>
            <a:r>
              <a:rPr lang="en-US" sz="1400" b="0" dirty="0"/>
              <a:t> </a:t>
            </a:r>
            <a:r>
              <a:rPr lang="en-US" sz="1400" b="0" dirty="0" err="1"/>
              <a:t>relativ</a:t>
            </a:r>
            <a:r>
              <a:rPr lang="en-US" sz="1400" b="0" dirty="0"/>
              <a:t> </a:t>
            </a:r>
            <a:r>
              <a:rPr lang="en-US" sz="1400" b="0" dirty="0" err="1"/>
              <a:t>stabila</a:t>
            </a:r>
            <a:r>
              <a:rPr lang="en-US" sz="1400" b="0" dirty="0"/>
              <a:t> a </a:t>
            </a:r>
            <a:r>
              <a:rPr lang="en-US" sz="1400" b="0" dirty="0" err="1"/>
              <a:t>marjei</a:t>
            </a:r>
            <a:r>
              <a:rPr lang="en-US" sz="1400" b="0" dirty="0"/>
              <a:t> brute, </a:t>
            </a:r>
            <a:r>
              <a:rPr lang="en-US" sz="1400" b="0" dirty="0" err="1"/>
              <a:t>fara</a:t>
            </a:r>
            <a:r>
              <a:rPr lang="en-US" sz="1400" b="0" dirty="0"/>
              <a:t> </a:t>
            </a:r>
            <a:r>
              <a:rPr lang="en-US" sz="1400" b="0" dirty="0" err="1"/>
              <a:t>fluctuatii</a:t>
            </a:r>
            <a:r>
              <a:rPr lang="en-US" sz="1400" b="0" dirty="0"/>
              <a:t> </a:t>
            </a:r>
            <a:r>
              <a:rPr lang="en-US" sz="1400" b="0" dirty="0" err="1"/>
              <a:t>majore</a:t>
            </a:r>
            <a:r>
              <a:rPr lang="en-US" sz="1400" b="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Se </a:t>
            </a:r>
            <a:r>
              <a:rPr lang="en-US" sz="1400" b="0" dirty="0" err="1"/>
              <a:t>observa</a:t>
            </a:r>
            <a:r>
              <a:rPr lang="en-US" sz="1400" b="0" dirty="0"/>
              <a:t> o </a:t>
            </a:r>
            <a:r>
              <a:rPr lang="en-US" sz="1400" b="0" dirty="0" err="1"/>
              <a:t>usoara</a:t>
            </a:r>
            <a:r>
              <a:rPr lang="en-US" sz="1400" b="0" dirty="0"/>
              <a:t> </a:t>
            </a:r>
            <a:r>
              <a:rPr lang="en-US" sz="1400" b="0" dirty="0" err="1"/>
              <a:t>crestere</a:t>
            </a:r>
            <a:r>
              <a:rPr lang="en-US" sz="1400" b="0" dirty="0"/>
              <a:t> in </a:t>
            </a:r>
            <a:r>
              <a:rPr lang="en-US" sz="1400" b="0" dirty="0" err="1"/>
              <a:t>lunile</a:t>
            </a:r>
            <a:r>
              <a:rPr lang="en-US" sz="1400" b="0" dirty="0"/>
              <a:t> de </a:t>
            </a:r>
            <a:r>
              <a:rPr lang="en-US" sz="1400" b="0" dirty="0" err="1"/>
              <a:t>primavara</a:t>
            </a:r>
            <a:r>
              <a:rPr lang="en-US" sz="1400" b="0" dirty="0"/>
              <a:t>, </a:t>
            </a:r>
            <a:r>
              <a:rPr lang="en-US" sz="1400" b="0" dirty="0" err="1"/>
              <a:t>urmata</a:t>
            </a:r>
            <a:r>
              <a:rPr lang="en-US" sz="1400" b="0" dirty="0"/>
              <a:t> de o </a:t>
            </a:r>
            <a:r>
              <a:rPr lang="en-US" sz="1400" b="0" dirty="0" err="1"/>
              <a:t>scadere</a:t>
            </a:r>
            <a:r>
              <a:rPr lang="en-US" sz="1400" b="0" dirty="0"/>
              <a:t> </a:t>
            </a:r>
            <a:r>
              <a:rPr lang="en-US" sz="1400" b="0" dirty="0" err="1"/>
              <a:t>moderata</a:t>
            </a:r>
            <a:r>
              <a:rPr lang="en-US" sz="1400" b="0" dirty="0"/>
              <a:t> in </a:t>
            </a:r>
            <a:r>
              <a:rPr lang="en-US" sz="1400" b="0" dirty="0" err="1"/>
              <a:t>perioada</a:t>
            </a:r>
            <a:r>
              <a:rPr lang="en-US" sz="1400" b="0" dirty="0"/>
              <a:t> </a:t>
            </a:r>
            <a:r>
              <a:rPr lang="en-US" sz="1400" b="0" dirty="0" err="1"/>
              <a:t>verii</a:t>
            </a:r>
            <a:r>
              <a:rPr lang="en-US" sz="1400" b="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Per </a:t>
            </a:r>
            <a:r>
              <a:rPr lang="en-US" sz="1400" b="0" dirty="0" err="1"/>
              <a:t>ansamblu</a:t>
            </a:r>
            <a:r>
              <a:rPr lang="en-US" sz="1400" b="0" dirty="0"/>
              <a:t>, </a:t>
            </a:r>
            <a:r>
              <a:rPr lang="en-US" sz="1400" b="0" dirty="0" err="1"/>
              <a:t>profitabilitatea</a:t>
            </a:r>
            <a:r>
              <a:rPr lang="en-US" sz="1400" b="0" dirty="0"/>
              <a:t> </a:t>
            </a:r>
            <a:r>
              <a:rPr lang="en-US" sz="1400" b="0" dirty="0" err="1"/>
              <a:t>este</a:t>
            </a:r>
            <a:r>
              <a:rPr lang="en-US" sz="1400" b="0" dirty="0"/>
              <a:t> </a:t>
            </a:r>
            <a:r>
              <a:rPr lang="en-US" sz="1400" b="0" dirty="0" err="1"/>
              <a:t>constanta</a:t>
            </a:r>
            <a:r>
              <a:rPr lang="en-US" sz="1400" b="0" dirty="0"/>
              <a:t>, </a:t>
            </a:r>
            <a:r>
              <a:rPr lang="en-US" sz="1400" b="0" dirty="0" err="1"/>
              <a:t>fara</a:t>
            </a:r>
            <a:r>
              <a:rPr lang="en-US" sz="1400" b="0" dirty="0"/>
              <a:t> </a:t>
            </a:r>
            <a:r>
              <a:rPr lang="en-US" sz="1400" b="0" dirty="0" err="1"/>
              <a:t>variatii</a:t>
            </a:r>
            <a:r>
              <a:rPr lang="en-US" sz="1400" b="0" dirty="0"/>
              <a:t> </a:t>
            </a:r>
            <a:r>
              <a:rPr lang="en-US" sz="1400" b="0" dirty="0" err="1"/>
              <a:t>sezoniere</a:t>
            </a:r>
            <a:r>
              <a:rPr lang="en-US" sz="1400" b="0" dirty="0"/>
              <a:t> </a:t>
            </a:r>
            <a:r>
              <a:rPr lang="en-US" sz="1400" b="0" dirty="0" err="1"/>
              <a:t>semnificative</a:t>
            </a:r>
            <a:r>
              <a:rPr lang="en-US" sz="1400" b="0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6812C44-6126-DB80-EAC1-243818AC9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0" y="1746250"/>
            <a:ext cx="5157787" cy="1822450"/>
          </a:xfrm>
        </p:spPr>
        <p:txBody>
          <a:bodyPr>
            <a:noAutofit/>
          </a:bodyPr>
          <a:lstStyle/>
          <a:p>
            <a:endParaRPr lang="en-US" sz="1400" b="0" dirty="0"/>
          </a:p>
          <a:p>
            <a:r>
              <a:rPr lang="en-US" sz="1400" u="sng" dirty="0"/>
              <a:t>Bikes </a:t>
            </a:r>
            <a:r>
              <a:rPr lang="en-US" sz="1400" b="0" dirty="0"/>
              <a:t>                                                                                             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Marja </a:t>
            </a:r>
            <a:r>
              <a:rPr lang="en-US" sz="1400" b="0" dirty="0" err="1"/>
              <a:t>bruta</a:t>
            </a:r>
            <a:r>
              <a:rPr lang="en-US" sz="1400" b="0" dirty="0"/>
              <a:t> </a:t>
            </a:r>
            <a:r>
              <a:rPr lang="en-US" sz="1400" b="0" dirty="0" err="1"/>
              <a:t>pentru</a:t>
            </a:r>
            <a:r>
              <a:rPr lang="en-US" sz="1400" b="0" dirty="0"/>
              <a:t> </a:t>
            </a:r>
            <a:r>
              <a:rPr lang="en-US" sz="1400" b="0" dirty="0" err="1"/>
              <a:t>categoria</a:t>
            </a:r>
            <a:r>
              <a:rPr lang="en-US" sz="1400" b="0" dirty="0"/>
              <a:t> Bikes </a:t>
            </a:r>
            <a:r>
              <a:rPr lang="en-US" sz="1400" b="0" dirty="0" err="1"/>
              <a:t>variaza</a:t>
            </a:r>
            <a:r>
              <a:rPr lang="en-US" sz="1400" b="0" dirty="0"/>
              <a:t> </a:t>
            </a:r>
            <a:r>
              <a:rPr lang="en-US" sz="1400" b="0" dirty="0" err="1"/>
              <a:t>semnificativ</a:t>
            </a:r>
            <a:r>
              <a:rPr lang="en-US" sz="1400" b="0" dirty="0"/>
              <a:t> pe </a:t>
            </a:r>
            <a:r>
              <a:rPr lang="en-US" sz="1400" b="0" dirty="0" err="1"/>
              <a:t>parcursul</a:t>
            </a:r>
            <a:r>
              <a:rPr lang="en-US" sz="1400" b="0" dirty="0"/>
              <a:t> </a:t>
            </a:r>
            <a:r>
              <a:rPr lang="en-US" sz="1400" b="0" dirty="0" err="1"/>
              <a:t>anului</a:t>
            </a:r>
            <a:r>
              <a:rPr lang="en-US" sz="1400" b="0" dirty="0"/>
              <a:t>, </a:t>
            </a:r>
            <a:r>
              <a:rPr lang="en-US" sz="1400" b="0" dirty="0" err="1"/>
              <a:t>indicand</a:t>
            </a:r>
            <a:r>
              <a:rPr lang="en-US" sz="1400" b="0" dirty="0"/>
              <a:t> o </a:t>
            </a:r>
            <a:r>
              <a:rPr lang="en-US" sz="1400" b="0" dirty="0" err="1"/>
              <a:t>sezonalitate</a:t>
            </a:r>
            <a:r>
              <a:rPr lang="en-US" sz="1400" b="0" dirty="0"/>
              <a:t> </a:t>
            </a:r>
            <a:r>
              <a:rPr lang="en-US" sz="1400" b="0" dirty="0" err="1"/>
              <a:t>clara</a:t>
            </a:r>
            <a:r>
              <a:rPr lang="en-US" sz="1400" b="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Se </a:t>
            </a:r>
            <a:r>
              <a:rPr lang="en-US" sz="1400" b="0" dirty="0" err="1"/>
              <a:t>observa</a:t>
            </a:r>
            <a:r>
              <a:rPr lang="en-US" sz="1400" b="0" dirty="0"/>
              <a:t> </a:t>
            </a:r>
            <a:r>
              <a:rPr lang="en-US" sz="1400" b="0" dirty="0" err="1"/>
              <a:t>scaderi</a:t>
            </a:r>
            <a:r>
              <a:rPr lang="en-US" sz="1400" b="0" dirty="0"/>
              <a:t> in </a:t>
            </a:r>
            <a:r>
              <a:rPr lang="en-US" sz="1400" b="0" dirty="0" err="1"/>
              <a:t>lunile</a:t>
            </a:r>
            <a:r>
              <a:rPr lang="en-US" sz="1400" b="0" dirty="0"/>
              <a:t> </a:t>
            </a:r>
            <a:r>
              <a:rPr lang="en-US" sz="1400" b="0" dirty="0" err="1"/>
              <a:t>Aprilie</a:t>
            </a:r>
            <a:r>
              <a:rPr lang="en-US" sz="1400" b="0" dirty="0"/>
              <a:t> </a:t>
            </a:r>
            <a:r>
              <a:rPr lang="en-US" sz="1400" b="0" dirty="0" err="1"/>
              <a:t>si</a:t>
            </a:r>
            <a:r>
              <a:rPr lang="en-US" sz="1400" b="0" dirty="0"/>
              <a:t> </a:t>
            </a:r>
            <a:r>
              <a:rPr lang="en-US" sz="1400" b="0" dirty="0" err="1"/>
              <a:t>Iunie</a:t>
            </a:r>
            <a:r>
              <a:rPr lang="en-US" sz="1400" b="0" dirty="0"/>
              <a:t>, corelate cu </a:t>
            </a:r>
            <a:r>
              <a:rPr lang="en-US" sz="1400" b="0" dirty="0" err="1"/>
              <a:t>niveluri</a:t>
            </a:r>
            <a:r>
              <a:rPr lang="en-US" sz="1400" b="0" dirty="0"/>
              <a:t> </a:t>
            </a:r>
            <a:r>
              <a:rPr lang="en-US" sz="1400" b="0" dirty="0" err="1"/>
              <a:t>mai</a:t>
            </a:r>
            <a:r>
              <a:rPr lang="en-US" sz="1400" b="0" dirty="0"/>
              <a:t> </a:t>
            </a:r>
            <a:r>
              <a:rPr lang="en-US" sz="1400" b="0" dirty="0" err="1"/>
              <a:t>ridicate</a:t>
            </a:r>
            <a:r>
              <a:rPr lang="en-US" sz="1400" b="0" dirty="0"/>
              <a:t> ale </a:t>
            </a:r>
            <a:r>
              <a:rPr lang="en-US" sz="1400" b="0" dirty="0" err="1"/>
              <a:t>discounturilor</a:t>
            </a:r>
            <a:r>
              <a:rPr lang="en-US" sz="1400" b="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In </a:t>
            </a:r>
            <a:r>
              <a:rPr lang="en-US" sz="1400" b="0" dirty="0" err="1"/>
              <a:t>lunile</a:t>
            </a:r>
            <a:r>
              <a:rPr lang="en-US" sz="1400" b="0" dirty="0"/>
              <a:t> de </a:t>
            </a:r>
            <a:r>
              <a:rPr lang="en-US" sz="1400" b="0" dirty="0" err="1"/>
              <a:t>toamna</a:t>
            </a:r>
            <a:r>
              <a:rPr lang="en-US" sz="1400" b="0" dirty="0"/>
              <a:t>, </a:t>
            </a:r>
            <a:r>
              <a:rPr lang="en-US" sz="1400" b="0" dirty="0" err="1"/>
              <a:t>marja</a:t>
            </a:r>
            <a:r>
              <a:rPr lang="en-US" sz="1400" b="0" dirty="0"/>
              <a:t> </a:t>
            </a:r>
            <a:r>
              <a:rPr lang="en-US" sz="1400" b="0" dirty="0" err="1"/>
              <a:t>creste</a:t>
            </a:r>
            <a:r>
              <a:rPr lang="en-US" sz="1400" b="0" dirty="0"/>
              <a:t> </a:t>
            </a:r>
            <a:r>
              <a:rPr lang="en-US" sz="1400" b="0" dirty="0" err="1"/>
              <a:t>si</a:t>
            </a:r>
            <a:r>
              <a:rPr lang="en-US" sz="1400" b="0" dirty="0"/>
              <a:t> </a:t>
            </a:r>
            <a:r>
              <a:rPr lang="en-US" sz="1400" b="0" dirty="0" err="1"/>
              <a:t>atinge</a:t>
            </a:r>
            <a:r>
              <a:rPr lang="en-US" sz="1400" b="0" dirty="0"/>
              <a:t> un </a:t>
            </a:r>
            <a:r>
              <a:rPr lang="en-US" sz="1400" b="0" dirty="0" err="1"/>
              <a:t>varf</a:t>
            </a:r>
            <a:r>
              <a:rPr lang="en-US" sz="1400" b="0" dirty="0"/>
              <a:t> in </a:t>
            </a:r>
            <a:r>
              <a:rPr lang="en-US" sz="1400" b="0" dirty="0" err="1"/>
              <a:t>Noiembrie</a:t>
            </a:r>
            <a:r>
              <a:rPr lang="en-US" sz="1400" b="0" dirty="0"/>
              <a:t>, </a:t>
            </a:r>
            <a:r>
              <a:rPr lang="en-US" sz="1400" b="0" dirty="0" err="1"/>
              <a:t>indicand</a:t>
            </a:r>
            <a:r>
              <a:rPr lang="en-US" sz="1400" b="0" dirty="0"/>
              <a:t> o </a:t>
            </a:r>
            <a:r>
              <a:rPr lang="en-US" sz="1400" b="0" dirty="0" err="1"/>
              <a:t>perioada</a:t>
            </a:r>
            <a:r>
              <a:rPr lang="en-US" sz="1400" b="0" dirty="0"/>
              <a:t> </a:t>
            </a:r>
            <a:r>
              <a:rPr lang="en-US" sz="1400" b="0" dirty="0" err="1"/>
              <a:t>mai</a:t>
            </a:r>
            <a:r>
              <a:rPr lang="en-US" sz="1400" b="0" dirty="0"/>
              <a:t> </a:t>
            </a:r>
            <a:r>
              <a:rPr lang="en-US" sz="1400" b="0" dirty="0" err="1"/>
              <a:t>profitabila</a:t>
            </a:r>
            <a:r>
              <a:rPr lang="en-US" sz="1400" b="0" dirty="0"/>
              <a:t>.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="" xmlns:a16="http://schemas.microsoft.com/office/drawing/2014/main" id="{0C909422-99F1-4152-D0F9-579EBB496B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0" y="3868083"/>
            <a:ext cx="5157787" cy="21269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Content Placeholder 25">
            <a:extLst>
              <a:ext uri="{FF2B5EF4-FFF2-40B4-BE49-F238E27FC236}">
                <a16:creationId xmlns="" xmlns:a16="http://schemas.microsoft.com/office/drawing/2014/main" id="{85ADFD74-62B6-2509-DB2B-C01F5C6597C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97605" y="3868083"/>
            <a:ext cx="5183188" cy="21354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255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F45A81-F237-0E7F-01E5-D5BFB058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b="1" dirty="0"/>
              <a:t>5.Dinamica sezoniera a marjei si discountului</a:t>
            </a:r>
            <a:endParaRPr lang="en-US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447779D-D22F-484A-D203-132D26A60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758879"/>
            <a:ext cx="5157787" cy="1784421"/>
          </a:xfrm>
        </p:spPr>
        <p:txBody>
          <a:bodyPr>
            <a:noAutofit/>
          </a:bodyPr>
          <a:lstStyle/>
          <a:p>
            <a:r>
              <a:rPr lang="en-US" sz="1400" u="sng" dirty="0"/>
              <a:t>Accessories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Marja </a:t>
            </a:r>
            <a:r>
              <a:rPr lang="en-US" sz="1400" b="0" dirty="0" err="1"/>
              <a:t>bruta</a:t>
            </a:r>
            <a:r>
              <a:rPr lang="en-US" sz="1400" b="0" dirty="0"/>
              <a:t> </a:t>
            </a:r>
            <a:r>
              <a:rPr lang="en-US" sz="1400" b="0" dirty="0" err="1"/>
              <a:t>pentru</a:t>
            </a:r>
            <a:r>
              <a:rPr lang="en-US" sz="1400" b="0" dirty="0"/>
              <a:t> </a:t>
            </a:r>
            <a:r>
              <a:rPr lang="en-US" sz="1400" b="0" dirty="0" err="1"/>
              <a:t>categoria</a:t>
            </a:r>
            <a:r>
              <a:rPr lang="en-US" sz="1400" b="0" dirty="0"/>
              <a:t> Accessories </a:t>
            </a:r>
            <a:r>
              <a:rPr lang="en-US" sz="1400" b="0" dirty="0" err="1"/>
              <a:t>este</a:t>
            </a:r>
            <a:r>
              <a:rPr lang="en-US" sz="1400" b="0" dirty="0"/>
              <a:t> in general </a:t>
            </a:r>
            <a:r>
              <a:rPr lang="en-US" sz="1400" b="0" dirty="0" err="1"/>
              <a:t>stabila</a:t>
            </a:r>
            <a:r>
              <a:rPr lang="en-US" sz="1400" b="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Se </a:t>
            </a:r>
            <a:r>
              <a:rPr lang="en-US" sz="1400" b="0" dirty="0" err="1"/>
              <a:t>observa</a:t>
            </a:r>
            <a:r>
              <a:rPr lang="en-US" sz="1400" b="0" dirty="0"/>
              <a:t> un </a:t>
            </a:r>
            <a:r>
              <a:rPr lang="en-US" sz="1400" b="0" dirty="0" err="1"/>
              <a:t>varf</a:t>
            </a:r>
            <a:r>
              <a:rPr lang="en-US" sz="1400" b="0" dirty="0"/>
              <a:t> </a:t>
            </a:r>
            <a:r>
              <a:rPr lang="en-US" sz="1400" b="0" dirty="0" err="1"/>
              <a:t>semnificativ</a:t>
            </a:r>
            <a:r>
              <a:rPr lang="en-US" sz="1400" b="0" dirty="0"/>
              <a:t> in luna Mai, </a:t>
            </a:r>
            <a:r>
              <a:rPr lang="en-US" sz="1400" b="0" dirty="0" err="1"/>
              <a:t>corelat</a:t>
            </a:r>
            <a:r>
              <a:rPr lang="en-US" sz="1400" b="0" dirty="0"/>
              <a:t> cu un </a:t>
            </a:r>
            <a:r>
              <a:rPr lang="en-US" sz="1400" b="0" dirty="0" err="1"/>
              <a:t>nivel</a:t>
            </a:r>
            <a:r>
              <a:rPr lang="en-US" sz="1400" b="0" dirty="0"/>
              <a:t> </a:t>
            </a:r>
            <a:r>
              <a:rPr lang="en-US" sz="1400" b="0" dirty="0" err="1"/>
              <a:t>ridicat</a:t>
            </a:r>
            <a:r>
              <a:rPr lang="en-US" sz="1400" b="0" dirty="0"/>
              <a:t> al </a:t>
            </a:r>
            <a:r>
              <a:rPr lang="en-US" sz="1400" b="0" dirty="0" err="1"/>
              <a:t>discounturilor</a:t>
            </a:r>
            <a:r>
              <a:rPr lang="en-US" sz="1400" b="0" dirty="0"/>
              <a:t>, in </a:t>
            </a:r>
            <a:r>
              <a:rPr lang="en-US" sz="1400" b="0" dirty="0" err="1"/>
              <a:t>timp</a:t>
            </a:r>
            <a:r>
              <a:rPr lang="en-US" sz="1400" b="0" dirty="0"/>
              <a:t> </a:t>
            </a:r>
            <a:r>
              <a:rPr lang="en-US" sz="1400" b="0" dirty="0" err="1"/>
              <a:t>ce</a:t>
            </a:r>
            <a:r>
              <a:rPr lang="en-US" sz="1400" b="0" dirty="0"/>
              <a:t> in </a:t>
            </a:r>
            <a:r>
              <a:rPr lang="en-US" sz="1400" b="0" dirty="0" err="1"/>
              <a:t>restul</a:t>
            </a:r>
            <a:r>
              <a:rPr lang="en-US" sz="1400" b="0" dirty="0"/>
              <a:t> </a:t>
            </a:r>
            <a:r>
              <a:rPr lang="en-US" sz="1400" b="0" dirty="0" err="1"/>
              <a:t>anului</a:t>
            </a:r>
            <a:r>
              <a:rPr lang="en-US" sz="1400" b="0" dirty="0"/>
              <a:t> </a:t>
            </a:r>
            <a:r>
              <a:rPr lang="en-US" sz="1400" b="0" dirty="0" err="1"/>
              <a:t>marja</a:t>
            </a:r>
            <a:r>
              <a:rPr lang="en-US" sz="1400" b="0" dirty="0"/>
              <a:t> </a:t>
            </a:r>
            <a:r>
              <a:rPr lang="en-US" sz="1400" b="0" dirty="0" err="1"/>
              <a:t>ramane</a:t>
            </a:r>
            <a:r>
              <a:rPr lang="en-US" sz="1400" b="0" dirty="0"/>
              <a:t> </a:t>
            </a:r>
            <a:r>
              <a:rPr lang="en-US" sz="1400" b="0" dirty="0" err="1"/>
              <a:t>relativ</a:t>
            </a:r>
            <a:r>
              <a:rPr lang="en-US" sz="1400" b="0" dirty="0"/>
              <a:t> </a:t>
            </a:r>
            <a:r>
              <a:rPr lang="en-US" sz="1400" b="0" dirty="0" err="1"/>
              <a:t>constanta</a:t>
            </a:r>
            <a:r>
              <a:rPr lang="en-US" sz="1400" b="0" dirty="0"/>
              <a:t>.</a:t>
            </a:r>
          </a:p>
          <a:p>
            <a:endParaRPr lang="en-US" sz="1400" b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A832AFA-EC95-94FF-D53A-E5C34E48B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8879"/>
            <a:ext cx="5183188" cy="1784421"/>
          </a:xfrm>
        </p:spPr>
        <p:txBody>
          <a:bodyPr>
            <a:noAutofit/>
          </a:bodyPr>
          <a:lstStyle/>
          <a:p>
            <a:r>
              <a:rPr lang="en-US" sz="1400" u="sng" dirty="0"/>
              <a:t>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Categoria</a:t>
            </a:r>
            <a:r>
              <a:rPr lang="en-US" sz="1400" b="0" dirty="0"/>
              <a:t> Components </a:t>
            </a:r>
            <a:r>
              <a:rPr lang="en-US" sz="1400" b="0" dirty="0" err="1"/>
              <a:t>prezinta</a:t>
            </a:r>
            <a:r>
              <a:rPr lang="en-US" sz="1400" b="0" dirty="0"/>
              <a:t> </a:t>
            </a:r>
            <a:r>
              <a:rPr lang="en-US" sz="1400" b="0" dirty="0" err="1"/>
              <a:t>fluctuatii</a:t>
            </a:r>
            <a:r>
              <a:rPr lang="en-US" sz="1400" b="0" dirty="0"/>
              <a:t> </a:t>
            </a:r>
            <a:r>
              <a:rPr lang="en-US" sz="1400" b="0" dirty="0" err="1"/>
              <a:t>importante</a:t>
            </a:r>
            <a:r>
              <a:rPr lang="en-US" sz="1400" b="0" dirty="0"/>
              <a:t> ale </a:t>
            </a:r>
            <a:r>
              <a:rPr lang="en-US" sz="1400" b="0" dirty="0" err="1"/>
              <a:t>marjei</a:t>
            </a:r>
            <a:r>
              <a:rPr lang="en-US" sz="1400" b="0" dirty="0"/>
              <a:t> brute pe </a:t>
            </a:r>
            <a:r>
              <a:rPr lang="en-US" sz="1400" b="0" dirty="0" err="1"/>
              <a:t>parcursul</a:t>
            </a:r>
            <a:r>
              <a:rPr lang="en-US" sz="1400" b="0" dirty="0"/>
              <a:t> </a:t>
            </a:r>
            <a:r>
              <a:rPr lang="en-US" sz="1400" b="0" dirty="0" err="1"/>
              <a:t>anului</a:t>
            </a:r>
            <a:r>
              <a:rPr lang="en-US" sz="1400" b="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Profitabilitatea</a:t>
            </a:r>
            <a:r>
              <a:rPr lang="en-US" sz="1400" b="0" dirty="0"/>
              <a:t> </a:t>
            </a:r>
            <a:r>
              <a:rPr lang="en-US" sz="1400" b="0" dirty="0" err="1"/>
              <a:t>creste</a:t>
            </a:r>
            <a:r>
              <a:rPr lang="en-US" sz="1400" b="0" dirty="0"/>
              <a:t> in </a:t>
            </a:r>
            <a:r>
              <a:rPr lang="en-US" sz="1400" b="0" dirty="0" err="1"/>
              <a:t>perioada</a:t>
            </a:r>
            <a:r>
              <a:rPr lang="en-US" sz="1400" b="0" dirty="0"/>
              <a:t> Mai–</a:t>
            </a:r>
            <a:r>
              <a:rPr lang="en-US" sz="1400" b="0" dirty="0" err="1"/>
              <a:t>Iulie</a:t>
            </a:r>
            <a:r>
              <a:rPr lang="en-US" sz="1400" b="0" dirty="0"/>
              <a:t>, </a:t>
            </a:r>
            <a:r>
              <a:rPr lang="en-US" sz="1400" b="0" dirty="0" err="1"/>
              <a:t>unde</a:t>
            </a:r>
            <a:r>
              <a:rPr lang="en-US" sz="1400" b="0" dirty="0"/>
              <a:t> se </a:t>
            </a:r>
            <a:r>
              <a:rPr lang="en-US" sz="1400" b="0" dirty="0" err="1"/>
              <a:t>observa</a:t>
            </a:r>
            <a:r>
              <a:rPr lang="en-US" sz="1400" b="0" dirty="0"/>
              <a:t> </a:t>
            </a:r>
            <a:r>
              <a:rPr lang="en-US" sz="1400" b="0" dirty="0" err="1"/>
              <a:t>si</a:t>
            </a:r>
            <a:r>
              <a:rPr lang="en-US" sz="1400" b="0" dirty="0"/>
              <a:t> un </a:t>
            </a:r>
            <a:r>
              <a:rPr lang="en-US" sz="1400" b="0" dirty="0" err="1"/>
              <a:t>nivel</a:t>
            </a:r>
            <a:r>
              <a:rPr lang="en-US" sz="1400" b="0" dirty="0"/>
              <a:t> </a:t>
            </a:r>
            <a:r>
              <a:rPr lang="en-US" sz="1400" b="0" dirty="0" err="1"/>
              <a:t>mai</a:t>
            </a:r>
            <a:r>
              <a:rPr lang="en-US" sz="1400" b="0" dirty="0"/>
              <a:t> </a:t>
            </a:r>
            <a:r>
              <a:rPr lang="en-US" sz="1400" b="0" dirty="0" err="1"/>
              <a:t>ridicat</a:t>
            </a:r>
            <a:r>
              <a:rPr lang="en-US" sz="1400" b="0" dirty="0"/>
              <a:t> al </a:t>
            </a:r>
            <a:r>
              <a:rPr lang="en-US" sz="1400" b="0" dirty="0" err="1"/>
              <a:t>discounturilor</a:t>
            </a:r>
            <a:r>
              <a:rPr lang="en-US" sz="1400" b="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In </a:t>
            </a:r>
            <a:r>
              <a:rPr lang="en-US" sz="1400" b="0" dirty="0" err="1"/>
              <a:t>celelalte</a:t>
            </a:r>
            <a:r>
              <a:rPr lang="en-US" sz="1400" b="0" dirty="0"/>
              <a:t> </a:t>
            </a:r>
            <a:r>
              <a:rPr lang="en-US" sz="1400" b="0" dirty="0" err="1"/>
              <a:t>luni</a:t>
            </a:r>
            <a:r>
              <a:rPr lang="en-US" sz="1400" b="0" dirty="0"/>
              <a:t>, </a:t>
            </a:r>
            <a:r>
              <a:rPr lang="en-US" sz="1400" b="0" dirty="0" err="1"/>
              <a:t>marja</a:t>
            </a:r>
            <a:r>
              <a:rPr lang="en-US" sz="1400" b="0" dirty="0"/>
              <a:t> </a:t>
            </a:r>
            <a:r>
              <a:rPr lang="en-US" sz="1400" b="0" dirty="0" err="1"/>
              <a:t>scade</a:t>
            </a:r>
            <a:r>
              <a:rPr lang="en-US" sz="1400" b="0" dirty="0"/>
              <a:t> </a:t>
            </a:r>
            <a:r>
              <a:rPr lang="en-US" sz="1400" b="0" dirty="0" err="1"/>
              <a:t>semnificativ</a:t>
            </a:r>
            <a:r>
              <a:rPr lang="en-US" sz="1400" b="0" dirty="0"/>
              <a:t>, </a:t>
            </a:r>
            <a:r>
              <a:rPr lang="en-US" sz="1400" b="0" dirty="0" err="1"/>
              <a:t>ceea</a:t>
            </a:r>
            <a:r>
              <a:rPr lang="en-US" sz="1400" b="0" dirty="0"/>
              <a:t> </a:t>
            </a:r>
            <a:r>
              <a:rPr lang="en-US" sz="1400" b="0" dirty="0" err="1"/>
              <a:t>ce</a:t>
            </a:r>
            <a:r>
              <a:rPr lang="en-US" sz="1400" b="0" dirty="0"/>
              <a:t> </a:t>
            </a:r>
            <a:r>
              <a:rPr lang="en-US" sz="1400" b="0" dirty="0" err="1"/>
              <a:t>evidentiaza</a:t>
            </a:r>
            <a:r>
              <a:rPr lang="en-US" sz="1400" b="0" dirty="0"/>
              <a:t> </a:t>
            </a:r>
            <a:r>
              <a:rPr lang="en-US" sz="1400" b="0" dirty="0" err="1"/>
              <a:t>influenta</a:t>
            </a:r>
            <a:r>
              <a:rPr lang="en-US" sz="1400" b="0" dirty="0"/>
              <a:t> </a:t>
            </a:r>
            <a:r>
              <a:rPr lang="en-US" sz="1400" b="0" dirty="0" err="1"/>
              <a:t>sezonalitatii</a:t>
            </a:r>
            <a:r>
              <a:rPr lang="en-US" sz="1400" b="0" dirty="0"/>
              <a:t> </a:t>
            </a:r>
            <a:r>
              <a:rPr lang="en-US" sz="1400" b="0" dirty="0" err="1"/>
              <a:t>asupra</a:t>
            </a:r>
            <a:r>
              <a:rPr lang="en-US" sz="1400" b="0" dirty="0"/>
              <a:t> </a:t>
            </a:r>
            <a:r>
              <a:rPr lang="en-US" sz="1400" b="0" dirty="0" err="1"/>
              <a:t>cererii</a:t>
            </a:r>
            <a:r>
              <a:rPr lang="en-US" sz="1400" b="0" dirty="0"/>
              <a:t> 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="" xmlns:a16="http://schemas.microsoft.com/office/drawing/2014/main" id="{F99E1FA4-613B-EB82-A213-F1ADEC6055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2014" y="3970548"/>
            <a:ext cx="5157787" cy="21396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Content Placeholder 15">
            <a:extLst>
              <a:ext uri="{FF2B5EF4-FFF2-40B4-BE49-F238E27FC236}">
                <a16:creationId xmlns="" xmlns:a16="http://schemas.microsoft.com/office/drawing/2014/main" id="{CE6EF9AE-6FCD-ACA7-E5E8-85B6499954A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54750" y="3970548"/>
            <a:ext cx="5183188" cy="21351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8542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B921E8-6CF6-4522-94FB-444DD6B50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6.Evolutia </a:t>
            </a:r>
            <a:r>
              <a:rPr lang="en-US" sz="4000" b="1" dirty="0" err="1"/>
              <a:t>venitului</a:t>
            </a:r>
            <a:r>
              <a:rPr lang="en-US" sz="4000" b="1" dirty="0"/>
              <a:t> </a:t>
            </a:r>
            <a:r>
              <a:rPr lang="en-US" sz="4000" b="1" dirty="0" err="1"/>
              <a:t>si</a:t>
            </a:r>
            <a:r>
              <a:rPr lang="en-US" sz="4000" b="1" dirty="0"/>
              <a:t> a </a:t>
            </a:r>
            <a:r>
              <a:rPr lang="en-US" sz="4000" b="1" dirty="0" err="1"/>
              <a:t>marjei</a:t>
            </a:r>
            <a:endParaRPr lang="en-US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78C799C-71E3-0462-A2AD-01D620A21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6139" y="1778000"/>
            <a:ext cx="5157787" cy="1778000"/>
          </a:xfrm>
        </p:spPr>
        <p:txBody>
          <a:bodyPr>
            <a:normAutofit fontScale="92500" lnSpcReduction="10000"/>
          </a:bodyPr>
          <a:lstStyle/>
          <a:p>
            <a:r>
              <a:rPr lang="it-IT" sz="1400" u="sng" dirty="0"/>
              <a:t>Bikes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0" dirty="0"/>
              <a:t>Categoria Bikes genereaza cele mai mari venituri pe intreaga perioada analizata, cu o crestere semnificativa pana in 2013.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0" dirty="0"/>
              <a:t>In 2012 se observa o scadere importanta a marjei brute, in contextul unor venituri in crestere, ceea ce sugereaza utilizarea unor discounturi mai ridicate.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b="0" dirty="0"/>
              <a:t>In 2014, veniturile scad, insa marja se mentine relativ stabila, indicand o usoara imbunatatire a profitabilitatii.</a:t>
            </a:r>
            <a:endParaRPr lang="en-US" sz="1400" b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DFF02617-3D9C-9C19-EA74-11AEE0146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8076" y="1778000"/>
            <a:ext cx="5183188" cy="1651000"/>
          </a:xfrm>
        </p:spPr>
        <p:txBody>
          <a:bodyPr>
            <a:normAutofit fontScale="92500" lnSpcReduction="10000"/>
          </a:bodyPr>
          <a:lstStyle/>
          <a:p>
            <a:r>
              <a:rPr lang="en-US" sz="1400" u="sng" dirty="0"/>
              <a:t>Clothing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 err="1"/>
              <a:t>Categoria</a:t>
            </a:r>
            <a:r>
              <a:rPr lang="en-US" sz="1400" b="0" dirty="0"/>
              <a:t> Clothing </a:t>
            </a:r>
            <a:r>
              <a:rPr lang="en-US" sz="1400" b="0" dirty="0" err="1"/>
              <a:t>inregistreaza</a:t>
            </a:r>
            <a:r>
              <a:rPr lang="en-US" sz="1400" b="0" dirty="0"/>
              <a:t> o </a:t>
            </a:r>
            <a:r>
              <a:rPr lang="en-US" sz="1400" b="0" dirty="0" err="1"/>
              <a:t>crestere</a:t>
            </a:r>
            <a:r>
              <a:rPr lang="en-US" sz="1400" b="0" dirty="0"/>
              <a:t> </a:t>
            </a:r>
            <a:r>
              <a:rPr lang="en-US" sz="1400" b="0" dirty="0" err="1"/>
              <a:t>constanta</a:t>
            </a:r>
            <a:r>
              <a:rPr lang="en-US" sz="1400" b="0" dirty="0"/>
              <a:t> </a:t>
            </a:r>
            <a:r>
              <a:rPr lang="en-US" sz="1400" b="0" dirty="0" err="1"/>
              <a:t>atat</a:t>
            </a:r>
            <a:r>
              <a:rPr lang="en-US" sz="1400" b="0" dirty="0"/>
              <a:t> a </a:t>
            </a:r>
            <a:r>
              <a:rPr lang="en-US" sz="1400" b="0" dirty="0" err="1"/>
              <a:t>veniturilor</a:t>
            </a:r>
            <a:r>
              <a:rPr lang="en-US" sz="1400" b="0" dirty="0"/>
              <a:t>, cat </a:t>
            </a:r>
            <a:r>
              <a:rPr lang="en-US" sz="1400" b="0" dirty="0" err="1"/>
              <a:t>si</a:t>
            </a:r>
            <a:r>
              <a:rPr lang="en-US" sz="1400" b="0" dirty="0"/>
              <a:t> a </a:t>
            </a:r>
            <a:r>
              <a:rPr lang="en-US" sz="1400" b="0" dirty="0" err="1"/>
              <a:t>marjei</a:t>
            </a:r>
            <a:r>
              <a:rPr lang="en-US" sz="1400" b="0" dirty="0"/>
              <a:t> brute </a:t>
            </a:r>
            <a:r>
              <a:rPr lang="en-US" sz="1400" b="0" dirty="0" err="1"/>
              <a:t>pana</a:t>
            </a:r>
            <a:r>
              <a:rPr lang="en-US" sz="1400" b="0" dirty="0"/>
              <a:t> in 2013.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/>
              <a:t>In 2011, </a:t>
            </a:r>
            <a:r>
              <a:rPr lang="en-US" sz="1400" b="0" dirty="0" err="1"/>
              <a:t>marja</a:t>
            </a:r>
            <a:r>
              <a:rPr lang="en-US" sz="1400" b="0" dirty="0"/>
              <a:t> </a:t>
            </a:r>
            <a:r>
              <a:rPr lang="en-US" sz="1400" b="0" dirty="0" err="1"/>
              <a:t>este</a:t>
            </a:r>
            <a:r>
              <a:rPr lang="en-US" sz="1400" b="0" dirty="0"/>
              <a:t> </a:t>
            </a:r>
            <a:r>
              <a:rPr lang="en-US" sz="1400" b="0" dirty="0" err="1"/>
              <a:t>foarte</a:t>
            </a:r>
            <a:r>
              <a:rPr lang="en-US" sz="1400" b="0" dirty="0"/>
              <a:t> </a:t>
            </a:r>
            <a:r>
              <a:rPr lang="en-US" sz="1400" b="0" dirty="0" err="1"/>
              <a:t>scazuta</a:t>
            </a:r>
            <a:r>
              <a:rPr lang="en-US" sz="1400" b="0" dirty="0"/>
              <a:t>, </a:t>
            </a:r>
            <a:r>
              <a:rPr lang="en-US" sz="1400" b="0" dirty="0" err="1"/>
              <a:t>aproape</a:t>
            </a:r>
            <a:r>
              <a:rPr lang="en-US" sz="1400" b="0" dirty="0"/>
              <a:t> de zero, </a:t>
            </a:r>
            <a:r>
              <a:rPr lang="en-US" sz="1400" b="0" dirty="0" err="1"/>
              <a:t>dar</a:t>
            </a:r>
            <a:r>
              <a:rPr lang="en-US" sz="1400" b="0" dirty="0"/>
              <a:t> </a:t>
            </a:r>
            <a:r>
              <a:rPr lang="en-US" sz="1400" b="0" dirty="0" err="1"/>
              <a:t>devine</a:t>
            </a:r>
            <a:r>
              <a:rPr lang="en-US" sz="1400" b="0" dirty="0"/>
              <a:t> </a:t>
            </a:r>
            <a:r>
              <a:rPr lang="en-US" sz="1400" b="0" dirty="0" err="1"/>
              <a:t>pozitiva</a:t>
            </a:r>
            <a:r>
              <a:rPr lang="en-US" sz="1400" b="0" dirty="0"/>
              <a:t> in </a:t>
            </a:r>
            <a:r>
              <a:rPr lang="en-US" sz="1400" b="0" dirty="0" err="1"/>
              <a:t>anii</a:t>
            </a:r>
            <a:r>
              <a:rPr lang="en-US" sz="1400" b="0" dirty="0"/>
              <a:t> </a:t>
            </a:r>
            <a:r>
              <a:rPr lang="en-US" sz="1400" b="0" dirty="0" err="1"/>
              <a:t>urmatori</a:t>
            </a:r>
            <a:r>
              <a:rPr lang="en-US" sz="1400" b="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/>
              <a:t>In 2014, </a:t>
            </a:r>
            <a:r>
              <a:rPr lang="en-US" sz="1400" b="0" dirty="0" err="1"/>
              <a:t>veniturile</a:t>
            </a:r>
            <a:r>
              <a:rPr lang="en-US" sz="1400" b="0" dirty="0"/>
              <a:t> </a:t>
            </a:r>
            <a:r>
              <a:rPr lang="en-US" sz="1400" b="0" dirty="0" err="1"/>
              <a:t>scad</a:t>
            </a:r>
            <a:r>
              <a:rPr lang="en-US" sz="1400" b="0" dirty="0"/>
              <a:t>, </a:t>
            </a:r>
            <a:r>
              <a:rPr lang="en-US" sz="1400" b="0" dirty="0" err="1"/>
              <a:t>insa</a:t>
            </a:r>
            <a:r>
              <a:rPr lang="en-US" sz="1400" b="0" dirty="0"/>
              <a:t> </a:t>
            </a:r>
            <a:r>
              <a:rPr lang="en-US" sz="1400" b="0" dirty="0" err="1"/>
              <a:t>marja</a:t>
            </a:r>
            <a:r>
              <a:rPr lang="en-US" sz="1400" b="0" dirty="0"/>
              <a:t> </a:t>
            </a:r>
            <a:r>
              <a:rPr lang="en-US" sz="1400" b="0" dirty="0" err="1"/>
              <a:t>ramane</a:t>
            </a:r>
            <a:r>
              <a:rPr lang="en-US" sz="1400" b="0" dirty="0"/>
              <a:t> </a:t>
            </a:r>
            <a:r>
              <a:rPr lang="en-US" sz="1400" b="0" dirty="0" err="1"/>
              <a:t>stabila</a:t>
            </a:r>
            <a:r>
              <a:rPr lang="en-US" sz="1400" b="0" dirty="0"/>
              <a:t>, </a:t>
            </a:r>
            <a:r>
              <a:rPr lang="en-US" sz="1400" b="0" dirty="0" err="1"/>
              <a:t>ceea</a:t>
            </a:r>
            <a:r>
              <a:rPr lang="en-US" sz="1400" b="0" dirty="0"/>
              <a:t> </a:t>
            </a:r>
            <a:r>
              <a:rPr lang="en-US" sz="1400" b="0" dirty="0" err="1"/>
              <a:t>ce</a:t>
            </a:r>
            <a:r>
              <a:rPr lang="en-US" sz="1400" b="0" dirty="0"/>
              <a:t> indica un control </a:t>
            </a:r>
            <a:r>
              <a:rPr lang="en-US" sz="1400" b="0" dirty="0" err="1"/>
              <a:t>mai</a:t>
            </a:r>
            <a:r>
              <a:rPr lang="en-US" sz="1400" b="0" dirty="0"/>
              <a:t> bun al </a:t>
            </a:r>
            <a:r>
              <a:rPr lang="en-US" sz="1400" b="0" dirty="0" err="1"/>
              <a:t>costurilor</a:t>
            </a:r>
            <a:r>
              <a:rPr lang="en-US" sz="1400" b="0" dirty="0"/>
              <a:t> </a:t>
            </a:r>
            <a:r>
              <a:rPr lang="en-US" sz="1400" b="0" dirty="0" err="1"/>
              <a:t>si</a:t>
            </a:r>
            <a:r>
              <a:rPr lang="en-US" sz="1400" b="0" dirty="0"/>
              <a:t> </a:t>
            </a:r>
            <a:r>
              <a:rPr lang="en-US" sz="1400" b="0" dirty="0" err="1"/>
              <a:t>discounturilor</a:t>
            </a:r>
            <a:r>
              <a:rPr lang="en-US" sz="1400" b="0" dirty="0"/>
              <a:t>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="" xmlns:a16="http://schemas.microsoft.com/office/drawing/2014/main" id="{CA92DE7A-24DA-0B74-0A7F-D75D2336B6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23038" y="3817073"/>
            <a:ext cx="4591286" cy="274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Content Placeholder 21">
            <a:extLst>
              <a:ext uri="{FF2B5EF4-FFF2-40B4-BE49-F238E27FC236}">
                <a16:creationId xmlns="" xmlns:a16="http://schemas.microsoft.com/office/drawing/2014/main" id="{8E33B633-5F0C-0B5B-0942-C5E26CC5269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90377" y="3817073"/>
            <a:ext cx="4578585" cy="27623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881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32EB48-973B-ABBE-7B47-2D164B87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6.Evolutia </a:t>
            </a:r>
            <a:r>
              <a:rPr lang="en-US" sz="4000" b="1" dirty="0" err="1"/>
              <a:t>venitului</a:t>
            </a:r>
            <a:r>
              <a:rPr lang="en-US" sz="4000" b="1" dirty="0"/>
              <a:t> </a:t>
            </a:r>
            <a:r>
              <a:rPr lang="en-US" sz="4000" b="1" dirty="0" err="1"/>
              <a:t>si</a:t>
            </a:r>
            <a:r>
              <a:rPr lang="en-US" sz="4000" b="1" dirty="0"/>
              <a:t> a </a:t>
            </a:r>
            <a:r>
              <a:rPr lang="en-US" sz="4000" b="1" dirty="0" err="1"/>
              <a:t>marjei</a:t>
            </a:r>
            <a:endParaRPr lang="en-US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1411DB9-C306-C82C-F223-96082E6CE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209" y="1690688"/>
            <a:ext cx="5157787" cy="173831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it-IT" sz="1400" u="sng" dirty="0"/>
              <a:t>Accesories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it-IT" sz="1400" b="0" dirty="0"/>
              <a:t>Categoria Accessories prezinta o crestere mare a veniturilor si a marjei brute in 2013.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it-IT" sz="1400" b="0" dirty="0"/>
              <a:t>Marja urmeaza acelasi trend ca veniturile, ceea ce indica o relatie sanatoasa intre vanzari si profitabilitate.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it-IT" sz="1400" b="0" dirty="0"/>
              <a:t>In 2014 se observa o scadere, insa profitabilitatea ramane buna raportata la volum.</a:t>
            </a:r>
            <a:endParaRPr lang="en-US" sz="1400" b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CC7F583-1AC5-EF49-865D-AB9C3A312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3006" y="1690688"/>
            <a:ext cx="5183188" cy="1738312"/>
          </a:xfrm>
        </p:spPr>
        <p:txBody>
          <a:bodyPr>
            <a:normAutofit fontScale="92500" lnSpcReduction="20000"/>
          </a:bodyPr>
          <a:lstStyle/>
          <a:p>
            <a:r>
              <a:rPr lang="en-US" sz="1400" u="sng" dirty="0"/>
              <a:t>Components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 err="1"/>
              <a:t>Categoria</a:t>
            </a:r>
            <a:r>
              <a:rPr lang="en-US" sz="1400" b="0" dirty="0"/>
              <a:t> Components </a:t>
            </a:r>
            <a:r>
              <a:rPr lang="en-US" sz="1400" b="0" dirty="0" err="1"/>
              <a:t>inregistreaza</a:t>
            </a:r>
            <a:r>
              <a:rPr lang="en-US" sz="1400" b="0" dirty="0"/>
              <a:t> o </a:t>
            </a:r>
            <a:r>
              <a:rPr lang="en-US" sz="1400" b="0" dirty="0" err="1"/>
              <a:t>crestere</a:t>
            </a:r>
            <a:r>
              <a:rPr lang="en-US" sz="1400" b="0" dirty="0"/>
              <a:t> a </a:t>
            </a:r>
            <a:r>
              <a:rPr lang="en-US" sz="1400" b="0" dirty="0" err="1"/>
              <a:t>veniturilor</a:t>
            </a:r>
            <a:r>
              <a:rPr lang="en-US" sz="1400" b="0" dirty="0"/>
              <a:t> </a:t>
            </a:r>
            <a:r>
              <a:rPr lang="en-US" sz="1400" b="0" dirty="0" err="1"/>
              <a:t>pana</a:t>
            </a:r>
            <a:r>
              <a:rPr lang="en-US" sz="1400" b="0" dirty="0"/>
              <a:t> in 2013, </a:t>
            </a:r>
            <a:r>
              <a:rPr lang="en-US" sz="1400" b="0" dirty="0" err="1"/>
              <a:t>insa</a:t>
            </a:r>
            <a:r>
              <a:rPr lang="en-US" sz="1400" b="0" dirty="0"/>
              <a:t> </a:t>
            </a:r>
            <a:r>
              <a:rPr lang="en-US" sz="1400" b="0" dirty="0" err="1"/>
              <a:t>marja</a:t>
            </a:r>
            <a:r>
              <a:rPr lang="en-US" sz="1400" b="0" dirty="0"/>
              <a:t> </a:t>
            </a:r>
            <a:r>
              <a:rPr lang="en-US" sz="1400" b="0" dirty="0" err="1"/>
              <a:t>bruta</a:t>
            </a:r>
            <a:r>
              <a:rPr lang="en-US" sz="1400" b="0" dirty="0"/>
              <a:t> </a:t>
            </a:r>
            <a:r>
              <a:rPr lang="en-US" sz="1400" b="0" dirty="0" err="1"/>
              <a:t>ramane</a:t>
            </a:r>
            <a:r>
              <a:rPr lang="en-US" sz="1400" b="0" dirty="0"/>
              <a:t> la un </a:t>
            </a:r>
            <a:r>
              <a:rPr lang="en-US" sz="1400" b="0" dirty="0" err="1"/>
              <a:t>nivel</a:t>
            </a:r>
            <a:r>
              <a:rPr lang="en-US" sz="1400" b="0" dirty="0"/>
              <a:t> </a:t>
            </a:r>
            <a:r>
              <a:rPr lang="en-US" sz="1400" b="0" dirty="0" err="1"/>
              <a:t>redus</a:t>
            </a:r>
            <a:r>
              <a:rPr lang="en-US" sz="1400" b="0" dirty="0"/>
              <a:t> pe </a:t>
            </a:r>
            <a:r>
              <a:rPr lang="en-US" sz="1400" b="0" dirty="0" err="1"/>
              <a:t>toata</a:t>
            </a:r>
            <a:r>
              <a:rPr lang="en-US" sz="1400" b="0" dirty="0"/>
              <a:t> </a:t>
            </a:r>
            <a:r>
              <a:rPr lang="en-US" sz="1400" b="0" dirty="0" err="1"/>
              <a:t>perioada</a:t>
            </a:r>
            <a:r>
              <a:rPr lang="en-US" sz="1400" b="0" dirty="0"/>
              <a:t> </a:t>
            </a:r>
            <a:r>
              <a:rPr lang="en-US" sz="1400" b="0" dirty="0" err="1"/>
              <a:t>analizata</a:t>
            </a:r>
            <a:r>
              <a:rPr lang="en-US" sz="1400" b="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 err="1"/>
              <a:t>Chiar</a:t>
            </a:r>
            <a:r>
              <a:rPr lang="en-US" sz="1400" b="0" dirty="0"/>
              <a:t> </a:t>
            </a:r>
            <a:r>
              <a:rPr lang="en-US" sz="1400" b="0" dirty="0" err="1"/>
              <a:t>si</a:t>
            </a:r>
            <a:r>
              <a:rPr lang="en-US" sz="1400" b="0" dirty="0"/>
              <a:t> in </a:t>
            </a:r>
            <a:r>
              <a:rPr lang="en-US" sz="1400" b="0" dirty="0" err="1"/>
              <a:t>anii</a:t>
            </a:r>
            <a:r>
              <a:rPr lang="en-US" sz="1400" b="0" dirty="0"/>
              <a:t> cu </a:t>
            </a:r>
            <a:r>
              <a:rPr lang="en-US" sz="1400" b="0" dirty="0" err="1"/>
              <a:t>vanzari</a:t>
            </a:r>
            <a:r>
              <a:rPr lang="en-US" sz="1400" b="0" dirty="0"/>
              <a:t> </a:t>
            </a:r>
            <a:r>
              <a:rPr lang="en-US" sz="1400" b="0" dirty="0" err="1"/>
              <a:t>ridicate</a:t>
            </a:r>
            <a:r>
              <a:rPr lang="en-US" sz="1400" b="0" dirty="0"/>
              <a:t>, </a:t>
            </a:r>
            <a:r>
              <a:rPr lang="en-US" sz="1400" b="0" dirty="0" err="1"/>
              <a:t>profitabilitatea</a:t>
            </a:r>
            <a:r>
              <a:rPr lang="en-US" sz="1400" b="0" dirty="0"/>
              <a:t> </a:t>
            </a:r>
            <a:r>
              <a:rPr lang="en-US" sz="1400" b="0" dirty="0" err="1"/>
              <a:t>este</a:t>
            </a:r>
            <a:r>
              <a:rPr lang="en-US" sz="1400" b="0" dirty="0"/>
              <a:t> </a:t>
            </a:r>
            <a:r>
              <a:rPr lang="en-US" sz="1400" b="0" dirty="0" err="1"/>
              <a:t>relativ</a:t>
            </a:r>
            <a:r>
              <a:rPr lang="en-US" sz="1400" b="0" dirty="0"/>
              <a:t> </a:t>
            </a:r>
            <a:r>
              <a:rPr lang="en-US" sz="1400" b="0" dirty="0" err="1"/>
              <a:t>scazuta</a:t>
            </a:r>
            <a:r>
              <a:rPr lang="en-US" sz="1400" b="0" dirty="0"/>
              <a:t> </a:t>
            </a:r>
            <a:r>
              <a:rPr lang="en-US" sz="1400" b="0" dirty="0" err="1"/>
              <a:t>comparativ</a:t>
            </a:r>
            <a:r>
              <a:rPr lang="en-US" sz="1400" b="0" dirty="0"/>
              <a:t> cu </a:t>
            </a:r>
            <a:r>
              <a:rPr lang="en-US" sz="1400" b="0" dirty="0" err="1"/>
              <a:t>volumul</a:t>
            </a:r>
            <a:r>
              <a:rPr lang="en-US" sz="1400" b="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/>
              <a:t>In 2014, </a:t>
            </a:r>
            <a:r>
              <a:rPr lang="en-US" sz="1400" b="0" dirty="0" err="1"/>
              <a:t>veniturile</a:t>
            </a:r>
            <a:r>
              <a:rPr lang="en-US" sz="1400" b="0" dirty="0"/>
              <a:t> </a:t>
            </a:r>
            <a:r>
              <a:rPr lang="en-US" sz="1400" b="0" dirty="0" err="1"/>
              <a:t>scad</a:t>
            </a:r>
            <a:r>
              <a:rPr lang="en-US" sz="1400" b="0" dirty="0"/>
              <a:t>, </a:t>
            </a:r>
            <a:r>
              <a:rPr lang="en-US" sz="1400" b="0" dirty="0" err="1"/>
              <a:t>iar</a:t>
            </a:r>
            <a:r>
              <a:rPr lang="en-US" sz="1400" b="0" dirty="0"/>
              <a:t> </a:t>
            </a:r>
            <a:r>
              <a:rPr lang="en-US" sz="1400" b="0" dirty="0" err="1"/>
              <a:t>marja</a:t>
            </a:r>
            <a:r>
              <a:rPr lang="en-US" sz="1400" b="0" dirty="0"/>
              <a:t> </a:t>
            </a:r>
            <a:r>
              <a:rPr lang="en-US" sz="1400" b="0" dirty="0" err="1"/>
              <a:t>ramane</a:t>
            </a:r>
            <a:r>
              <a:rPr lang="en-US" sz="1400" b="0" dirty="0"/>
              <a:t> </a:t>
            </a:r>
            <a:r>
              <a:rPr lang="en-US" sz="1400" b="0" dirty="0" err="1"/>
              <a:t>redusa</a:t>
            </a:r>
            <a:r>
              <a:rPr lang="en-US" sz="1400" b="0" dirty="0"/>
              <a:t>, </a:t>
            </a:r>
            <a:r>
              <a:rPr lang="en-US" sz="1400" b="0" dirty="0" err="1"/>
              <a:t>ceea</a:t>
            </a:r>
            <a:r>
              <a:rPr lang="en-US" sz="1400" b="0" dirty="0"/>
              <a:t> </a:t>
            </a:r>
            <a:r>
              <a:rPr lang="en-US" sz="1400" b="0" dirty="0" err="1"/>
              <a:t>ce</a:t>
            </a:r>
            <a:r>
              <a:rPr lang="en-US" sz="1400" b="0" dirty="0"/>
              <a:t> indica o </a:t>
            </a:r>
            <a:r>
              <a:rPr lang="en-US" sz="1400" b="0" dirty="0" err="1"/>
              <a:t>performanta</a:t>
            </a:r>
            <a:r>
              <a:rPr lang="en-US" sz="1400" b="0" dirty="0"/>
              <a:t> </a:t>
            </a:r>
            <a:r>
              <a:rPr lang="en-US" sz="1400" b="0" dirty="0" err="1"/>
              <a:t>scazuta</a:t>
            </a:r>
            <a:r>
              <a:rPr lang="en-US" sz="1400" b="0" dirty="0"/>
              <a:t> a </a:t>
            </a:r>
            <a:r>
              <a:rPr lang="en-US" sz="1400" b="0" dirty="0" err="1"/>
              <a:t>categoriei</a:t>
            </a:r>
            <a:r>
              <a:rPr lang="en-US" sz="1400" b="0" dirty="0"/>
              <a:t>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="" xmlns:a16="http://schemas.microsoft.com/office/drawing/2014/main" id="{2E80C882-FEAE-3D7B-8FDD-D79F39345D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3985" y="3724133"/>
            <a:ext cx="4578585" cy="27687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Content Placeholder 13">
            <a:extLst>
              <a:ext uri="{FF2B5EF4-FFF2-40B4-BE49-F238E27FC236}">
                <a16:creationId xmlns="" xmlns:a16="http://schemas.microsoft.com/office/drawing/2014/main" id="{167CAF51-2F62-582A-C743-4A14C1BDF46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09432" y="3724133"/>
            <a:ext cx="4597636" cy="2768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88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D2EE45-6446-D3B7-A334-B5211584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3" y="0"/>
            <a:ext cx="11751734" cy="863600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7.Analiza </a:t>
            </a:r>
            <a:r>
              <a:rPr lang="en-US" sz="4000" b="1" dirty="0"/>
              <a:t>marjei si a discountului pe categorii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F6C2385-E841-863A-93C0-BE5DA1729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0400" y="987425"/>
            <a:ext cx="4111625" cy="539432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1900" b="1" u="sng" dirty="0"/>
              <a:t>Bikes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 err="1"/>
              <a:t>Genereaza</a:t>
            </a:r>
            <a:r>
              <a:rPr lang="en-US" sz="1900" dirty="0"/>
              <a:t> </a:t>
            </a:r>
            <a:r>
              <a:rPr lang="en-US" sz="1900" dirty="0" err="1"/>
              <a:t>cea</a:t>
            </a:r>
            <a:r>
              <a:rPr lang="en-US" sz="1900" dirty="0"/>
              <a:t> </a:t>
            </a:r>
            <a:r>
              <a:rPr lang="en-US" sz="1900" dirty="0" err="1"/>
              <a:t>mai</a:t>
            </a:r>
            <a:r>
              <a:rPr lang="en-US" sz="1900" dirty="0"/>
              <a:t> mare </a:t>
            </a:r>
            <a:r>
              <a:rPr lang="en-US" sz="1900" dirty="0" err="1"/>
              <a:t>marja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 err="1"/>
              <a:t>Sustine</a:t>
            </a:r>
            <a:r>
              <a:rPr lang="en-US" sz="1900" dirty="0"/>
              <a:t> </a:t>
            </a:r>
            <a:r>
              <a:rPr lang="en-US" sz="1900" dirty="0" err="1"/>
              <a:t>vanzarile</a:t>
            </a:r>
            <a:r>
              <a:rPr lang="en-US" sz="1900" dirty="0"/>
              <a:t> </a:t>
            </a:r>
            <a:r>
              <a:rPr lang="en-US" sz="1900" dirty="0" err="1"/>
              <a:t>prin</a:t>
            </a:r>
            <a:r>
              <a:rPr lang="en-US" sz="1900" dirty="0"/>
              <a:t> </a:t>
            </a:r>
            <a:r>
              <a:rPr lang="en-US" sz="1900" dirty="0" err="1"/>
              <a:t>discounturi</a:t>
            </a:r>
            <a:r>
              <a:rPr lang="en-US" sz="1900" dirty="0"/>
              <a:t> </a:t>
            </a:r>
            <a:r>
              <a:rPr lang="en-US" sz="1900" dirty="0" err="1"/>
              <a:t>ridicate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 err="1"/>
              <a:t>Reducerile</a:t>
            </a:r>
            <a:r>
              <a:rPr lang="en-US" sz="1900" dirty="0"/>
              <a:t> </a:t>
            </a:r>
            <a:r>
              <a:rPr lang="en-US" sz="1900" dirty="0" err="1"/>
              <a:t>afecteaza</a:t>
            </a:r>
            <a:r>
              <a:rPr lang="en-US" sz="1900" dirty="0"/>
              <a:t> </a:t>
            </a:r>
            <a:r>
              <a:rPr lang="en-US" sz="1900" dirty="0" err="1"/>
              <a:t>evolutia</a:t>
            </a:r>
            <a:r>
              <a:rPr lang="en-US" sz="1900" dirty="0"/>
              <a:t> </a:t>
            </a:r>
            <a:r>
              <a:rPr lang="en-US" sz="1900" dirty="0" err="1"/>
              <a:t>marjei</a:t>
            </a:r>
            <a:endParaRPr lang="en-US" sz="1900" dirty="0"/>
          </a:p>
          <a:p>
            <a:endParaRPr lang="en-US" sz="1900" dirty="0"/>
          </a:p>
          <a:p>
            <a:r>
              <a:rPr lang="en-US" sz="1900" b="1" u="sng" dirty="0"/>
              <a:t>Clothing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 err="1"/>
              <a:t>Genereaza</a:t>
            </a:r>
            <a:r>
              <a:rPr lang="en-US" sz="1900" dirty="0"/>
              <a:t> </a:t>
            </a:r>
            <a:r>
              <a:rPr lang="en-US" sz="1900" dirty="0" err="1"/>
              <a:t>cea</a:t>
            </a:r>
            <a:r>
              <a:rPr lang="en-US" sz="1900" dirty="0"/>
              <a:t> </a:t>
            </a:r>
            <a:r>
              <a:rPr lang="en-US" sz="1900" dirty="0" err="1"/>
              <a:t>mai</a:t>
            </a:r>
            <a:r>
              <a:rPr lang="en-US" sz="1900" dirty="0"/>
              <a:t> </a:t>
            </a:r>
            <a:r>
              <a:rPr lang="en-US" sz="1900" dirty="0" err="1"/>
              <a:t>scazuta</a:t>
            </a:r>
            <a:r>
              <a:rPr lang="en-US" sz="1900" dirty="0"/>
              <a:t> </a:t>
            </a:r>
            <a:r>
              <a:rPr lang="en-US" sz="1900" dirty="0" err="1"/>
              <a:t>marja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Sunt </a:t>
            </a:r>
            <a:r>
              <a:rPr lang="en-US" sz="1900" dirty="0" err="1"/>
              <a:t>implementate</a:t>
            </a:r>
            <a:r>
              <a:rPr lang="en-US" sz="1900" dirty="0"/>
              <a:t> </a:t>
            </a:r>
            <a:r>
              <a:rPr lang="en-US" sz="1900" dirty="0" err="1"/>
              <a:t>discounturi</a:t>
            </a:r>
            <a:r>
              <a:rPr lang="en-US" sz="1900" dirty="0"/>
              <a:t> moderate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 err="1"/>
              <a:t>Reducerile</a:t>
            </a:r>
            <a:r>
              <a:rPr lang="en-US" sz="1900" dirty="0"/>
              <a:t> </a:t>
            </a:r>
            <a:r>
              <a:rPr lang="en-US" sz="1900" dirty="0" err="1"/>
              <a:t>afecteaza</a:t>
            </a:r>
            <a:r>
              <a:rPr lang="en-US" sz="1900" dirty="0"/>
              <a:t> </a:t>
            </a:r>
            <a:r>
              <a:rPr lang="en-US" sz="1900" dirty="0" err="1"/>
              <a:t>evolutia</a:t>
            </a:r>
            <a:r>
              <a:rPr lang="en-US" sz="1900" dirty="0"/>
              <a:t> </a:t>
            </a:r>
            <a:r>
              <a:rPr lang="en-US" sz="1900" dirty="0" err="1"/>
              <a:t>marjei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endParaRPr lang="en-US" sz="1900" dirty="0"/>
          </a:p>
          <a:p>
            <a:pPr>
              <a:buNone/>
            </a:pPr>
            <a:r>
              <a:rPr lang="en-US" sz="1900" b="1" u="sng" dirty="0"/>
              <a:t>Accessories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 err="1"/>
              <a:t>Genereaza</a:t>
            </a:r>
            <a:r>
              <a:rPr lang="en-US" sz="1900" dirty="0"/>
              <a:t> o </a:t>
            </a:r>
            <a:r>
              <a:rPr lang="en-US" sz="1900" dirty="0" err="1"/>
              <a:t>marja</a:t>
            </a:r>
            <a:r>
              <a:rPr lang="en-US" sz="1900" dirty="0"/>
              <a:t> </a:t>
            </a:r>
            <a:r>
              <a:rPr lang="en-US" sz="1900" dirty="0" err="1"/>
              <a:t>stabila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Sunt </a:t>
            </a:r>
            <a:r>
              <a:rPr lang="en-US" sz="1900" dirty="0" err="1"/>
              <a:t>aplicate</a:t>
            </a:r>
            <a:r>
              <a:rPr lang="en-US" sz="1900" dirty="0"/>
              <a:t> </a:t>
            </a:r>
            <a:r>
              <a:rPr lang="en-US" sz="1900" dirty="0" err="1"/>
              <a:t>discounturi</a:t>
            </a:r>
            <a:r>
              <a:rPr lang="en-US" sz="1900" dirty="0"/>
              <a:t> </a:t>
            </a:r>
            <a:r>
              <a:rPr lang="en-US" sz="1900" dirty="0" err="1"/>
              <a:t>mici</a:t>
            </a:r>
            <a:r>
              <a:rPr lang="en-US" sz="19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Nu </a:t>
            </a:r>
            <a:r>
              <a:rPr lang="en-US" sz="1900" dirty="0" err="1"/>
              <a:t>depinde</a:t>
            </a:r>
            <a:r>
              <a:rPr lang="en-US" sz="1900" dirty="0"/>
              <a:t> de </a:t>
            </a:r>
            <a:r>
              <a:rPr lang="en-US" sz="1900" dirty="0" err="1"/>
              <a:t>promotii</a:t>
            </a:r>
            <a:r>
              <a:rPr lang="en-US" sz="1900" dirty="0"/>
              <a:t> </a:t>
            </a:r>
            <a:r>
              <a:rPr lang="en-US" sz="1900" dirty="0" err="1"/>
              <a:t>mari</a:t>
            </a:r>
            <a:r>
              <a:rPr lang="en-US" sz="1900" dirty="0"/>
              <a:t> </a:t>
            </a:r>
            <a:r>
              <a:rPr lang="en-US" sz="1900" dirty="0" err="1"/>
              <a:t>pentru</a:t>
            </a:r>
            <a:r>
              <a:rPr lang="en-US" sz="1900" dirty="0"/>
              <a:t> a genera profit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900" dirty="0"/>
          </a:p>
          <a:p>
            <a:pPr>
              <a:buNone/>
            </a:pPr>
            <a:r>
              <a:rPr lang="en-US" sz="1900" b="1" u="sng" dirty="0"/>
              <a:t>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 err="1"/>
              <a:t>Genereaza</a:t>
            </a:r>
            <a:r>
              <a:rPr lang="en-US" sz="1900" dirty="0"/>
              <a:t> o </a:t>
            </a:r>
            <a:r>
              <a:rPr lang="en-US" sz="1900" dirty="0" err="1"/>
              <a:t>marja</a:t>
            </a:r>
            <a:r>
              <a:rPr lang="en-US" sz="1900" dirty="0"/>
              <a:t> </a:t>
            </a:r>
            <a:r>
              <a:rPr lang="en-US" sz="1900" dirty="0" err="1"/>
              <a:t>scazuta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Sunt </a:t>
            </a:r>
            <a:r>
              <a:rPr lang="en-US" sz="1900" dirty="0" err="1"/>
              <a:t>implementate</a:t>
            </a:r>
            <a:r>
              <a:rPr lang="en-US" sz="1900" dirty="0"/>
              <a:t> </a:t>
            </a:r>
            <a:r>
              <a:rPr lang="en-US" sz="1900" dirty="0" err="1"/>
              <a:t>discounturi</a:t>
            </a:r>
            <a:r>
              <a:rPr lang="en-US" sz="1900" dirty="0"/>
              <a:t> </a:t>
            </a:r>
            <a:r>
              <a:rPr lang="en-US" sz="1900" dirty="0" err="1"/>
              <a:t>foarte</a:t>
            </a:r>
            <a:r>
              <a:rPr lang="en-US" sz="1900" dirty="0"/>
              <a:t> </a:t>
            </a:r>
            <a:r>
              <a:rPr lang="en-US" sz="1900" dirty="0" err="1"/>
              <a:t>mici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 err="1"/>
              <a:t>Costurile</a:t>
            </a:r>
            <a:r>
              <a:rPr lang="en-US" sz="1900" dirty="0"/>
              <a:t> </a:t>
            </a:r>
            <a:r>
              <a:rPr lang="en-US" sz="1900" dirty="0" err="1"/>
              <a:t>afecteaza</a:t>
            </a:r>
            <a:r>
              <a:rPr lang="en-US" sz="1900" dirty="0"/>
              <a:t> </a:t>
            </a:r>
            <a:r>
              <a:rPr lang="en-US" sz="1900" dirty="0" err="1"/>
              <a:t>evolutia</a:t>
            </a:r>
            <a:r>
              <a:rPr lang="en-US" sz="1900" dirty="0"/>
              <a:t> </a:t>
            </a:r>
            <a:r>
              <a:rPr lang="en-US" sz="1900" dirty="0" err="1"/>
              <a:t>marjei</a:t>
            </a:r>
            <a:endParaRPr lang="en-US" sz="1900" dirty="0"/>
          </a:p>
          <a:p>
            <a:endParaRPr lang="en-US" dirty="0"/>
          </a:p>
        </p:txBody>
      </p:sp>
      <p:graphicFrame>
        <p:nvGraphicFramePr>
          <p:cNvPr id="17" name="Picture Placeholder 16">
            <a:extLst>
              <a:ext uri="{FF2B5EF4-FFF2-40B4-BE49-F238E27FC236}">
                <a16:creationId xmlns="" xmlns:a16="http://schemas.microsoft.com/office/drawing/2014/main" id="{26C85141-E9C0-3495-6452-22B1AEFEDF4F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816519846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35611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BCA7F9-1ECF-0422-3C3F-4B71307D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38" y="228600"/>
            <a:ext cx="11891962" cy="654050"/>
          </a:xfrm>
        </p:spPr>
        <p:txBody>
          <a:bodyPr>
            <a:noAutofit/>
          </a:bodyPr>
          <a:lstStyle/>
          <a:p>
            <a:r>
              <a:rPr lang="en-US" sz="4000" b="1" dirty="0"/>
              <a:t>8.Top </a:t>
            </a:r>
            <a:r>
              <a:rPr lang="en-US" sz="4000" b="1" dirty="0" err="1"/>
              <a:t>produse</a:t>
            </a:r>
            <a:r>
              <a:rPr lang="en-US" sz="4000" b="1" dirty="0"/>
              <a:t> </a:t>
            </a:r>
            <a:r>
              <a:rPr lang="en-US" sz="4000" b="1" dirty="0" err="1"/>
              <a:t>marja</a:t>
            </a:r>
            <a:r>
              <a:rPr lang="en-US" sz="4000" b="1" dirty="0"/>
              <a:t> </a:t>
            </a:r>
            <a:r>
              <a:rPr lang="en-US" sz="4000" b="1" dirty="0" err="1"/>
              <a:t>ridicata</a:t>
            </a:r>
            <a:r>
              <a:rPr lang="en-US" sz="4000" b="1" dirty="0"/>
              <a:t> vs. </a:t>
            </a:r>
            <a:r>
              <a:rPr lang="en-US" sz="4000" b="1" dirty="0" err="1"/>
              <a:t>scazuta</a:t>
            </a:r>
            <a:r>
              <a:rPr lang="en-US" sz="4000" b="1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1BF4FE8-C6CE-8BBC-B300-89895BEA4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38" y="2081212"/>
            <a:ext cx="3932237" cy="3811588"/>
          </a:xfrm>
        </p:spPr>
        <p:txBody>
          <a:bodyPr>
            <a:normAutofit/>
          </a:bodyPr>
          <a:lstStyle/>
          <a:p>
            <a:r>
              <a:rPr lang="en-US" sz="1400" b="1" dirty="0"/>
              <a:t>Top 5 </a:t>
            </a:r>
            <a:r>
              <a:rPr lang="en-US" sz="1400" b="1" dirty="0" err="1"/>
              <a:t>produse</a:t>
            </a:r>
            <a:r>
              <a:rPr lang="en-US" sz="1400" b="1" dirty="0"/>
              <a:t> </a:t>
            </a:r>
            <a:r>
              <a:rPr lang="en-US" sz="1400" b="1" dirty="0" err="1"/>
              <a:t>profitabile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Produsele</a:t>
            </a:r>
            <a:r>
              <a:rPr lang="en-US" sz="1400" dirty="0"/>
              <a:t> din </a:t>
            </a:r>
            <a:r>
              <a:rPr lang="en-US" sz="1400" dirty="0" err="1"/>
              <a:t>gama</a:t>
            </a:r>
            <a:r>
              <a:rPr lang="en-US" sz="1400" dirty="0"/>
              <a:t> Mountain-200 </a:t>
            </a:r>
            <a:r>
              <a:rPr lang="en-US" sz="1400" dirty="0" err="1"/>
              <a:t>genereaza</a:t>
            </a:r>
            <a:r>
              <a:rPr lang="en-US" sz="1400" dirty="0"/>
              <a:t> </a:t>
            </a:r>
            <a:r>
              <a:rPr lang="en-US" sz="1400" dirty="0" err="1"/>
              <a:t>cea</a:t>
            </a:r>
            <a:r>
              <a:rPr lang="en-US" sz="1400" dirty="0"/>
              <a:t> </a:t>
            </a:r>
            <a:r>
              <a:rPr lang="en-US" sz="1400" dirty="0" err="1"/>
              <a:t>mai</a:t>
            </a:r>
            <a:r>
              <a:rPr lang="en-US" sz="1400" dirty="0"/>
              <a:t> mare </a:t>
            </a:r>
            <a:r>
              <a:rPr lang="en-US" sz="1400" dirty="0" err="1"/>
              <a:t>marja</a:t>
            </a:r>
            <a:r>
              <a:rPr lang="en-US" sz="1400" dirty="0"/>
              <a:t>, </a:t>
            </a:r>
            <a:r>
              <a:rPr lang="en-US" sz="1400" dirty="0" err="1"/>
              <a:t>reprezentand</a:t>
            </a:r>
            <a:r>
              <a:rPr lang="en-US" sz="1400" dirty="0"/>
              <a:t> </a:t>
            </a:r>
            <a:r>
              <a:rPr lang="en-US" sz="1400" dirty="0" err="1"/>
              <a:t>baza</a:t>
            </a:r>
            <a:r>
              <a:rPr lang="en-US" sz="1400" dirty="0"/>
              <a:t> </a:t>
            </a:r>
            <a:r>
              <a:rPr lang="en-US" sz="1400" dirty="0" err="1"/>
              <a:t>profitabilitatii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Acestea</a:t>
            </a:r>
            <a:r>
              <a:rPr lang="en-US" sz="1400" dirty="0"/>
              <a:t> </a:t>
            </a:r>
            <a:r>
              <a:rPr lang="en-US" sz="1400" dirty="0" err="1"/>
              <a:t>contribuie</a:t>
            </a:r>
            <a:r>
              <a:rPr lang="en-US" sz="1400" dirty="0"/>
              <a:t> </a:t>
            </a:r>
            <a:r>
              <a:rPr lang="en-US" sz="1400" dirty="0" err="1"/>
              <a:t>semnificativ</a:t>
            </a:r>
            <a:r>
              <a:rPr lang="en-US" sz="1400" dirty="0"/>
              <a:t> la </a:t>
            </a:r>
            <a:r>
              <a:rPr lang="en-US" sz="1400" dirty="0" err="1"/>
              <a:t>rezultatele</a:t>
            </a:r>
            <a:r>
              <a:rPr lang="en-US" sz="1400" dirty="0"/>
              <a:t> </a:t>
            </a:r>
            <a:r>
              <a:rPr lang="en-US" sz="1400" dirty="0" err="1"/>
              <a:t>totale</a:t>
            </a:r>
            <a:r>
              <a:rPr lang="en-US" sz="1400" dirty="0"/>
              <a:t> ale </a:t>
            </a:r>
            <a:r>
              <a:rPr lang="en-US" sz="1400" dirty="0" err="1"/>
              <a:t>companiei</a:t>
            </a:r>
            <a:r>
              <a:rPr lang="en-US" sz="1400" dirty="0"/>
              <a:t> </a:t>
            </a:r>
            <a:r>
              <a:rPr lang="en-US" sz="1400" dirty="0" err="1"/>
              <a:t>si</a:t>
            </a:r>
            <a:r>
              <a:rPr lang="en-US" sz="1400" dirty="0"/>
              <a:t> au o </a:t>
            </a:r>
            <a:r>
              <a:rPr lang="en-US" sz="1400" dirty="0" err="1"/>
              <a:t>performanta</a:t>
            </a:r>
            <a:r>
              <a:rPr lang="en-US" sz="1400" dirty="0"/>
              <a:t> </a:t>
            </a:r>
            <a:r>
              <a:rPr lang="en-US" sz="1400" dirty="0" err="1"/>
              <a:t>constanta</a:t>
            </a:r>
            <a:r>
              <a:rPr lang="en-US" sz="1400" dirty="0"/>
              <a:t>. </a:t>
            </a:r>
          </a:p>
          <a:p>
            <a:endParaRPr lang="en-US" sz="1400" dirty="0"/>
          </a:p>
          <a:p>
            <a:r>
              <a:rPr lang="en-US" sz="1400" b="1" dirty="0"/>
              <a:t>Top 5 </a:t>
            </a:r>
            <a:r>
              <a:rPr lang="en-US" sz="1400" b="1" dirty="0" err="1"/>
              <a:t>produse</a:t>
            </a:r>
            <a:r>
              <a:rPr lang="en-US" sz="1400" b="1" dirty="0"/>
              <a:t> </a:t>
            </a:r>
            <a:r>
              <a:rPr lang="en-US" sz="1400" b="1" dirty="0" err="1"/>
              <a:t>critice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Exista</a:t>
            </a:r>
            <a:r>
              <a:rPr lang="en-US" sz="1400" dirty="0"/>
              <a:t> </a:t>
            </a:r>
            <a:r>
              <a:rPr lang="en-US" sz="1400" dirty="0" err="1"/>
              <a:t>produse</a:t>
            </a:r>
            <a:r>
              <a:rPr lang="en-US" sz="1400" dirty="0"/>
              <a:t> care </a:t>
            </a:r>
            <a:r>
              <a:rPr lang="en-US" sz="1400" dirty="0" err="1"/>
              <a:t>genereaza</a:t>
            </a:r>
            <a:r>
              <a:rPr lang="en-US" sz="1400" dirty="0"/>
              <a:t> </a:t>
            </a:r>
            <a:r>
              <a:rPr lang="en-US" sz="1400" dirty="0" err="1"/>
              <a:t>pierderi</a:t>
            </a:r>
            <a:r>
              <a:rPr lang="en-US" sz="1400" dirty="0"/>
              <a:t>, in special din </a:t>
            </a:r>
            <a:r>
              <a:rPr lang="en-US" sz="1400" dirty="0" err="1"/>
              <a:t>gama</a:t>
            </a:r>
            <a:r>
              <a:rPr lang="en-US" sz="1400" dirty="0"/>
              <a:t> Road-650 </a:t>
            </a:r>
            <a:r>
              <a:rPr lang="en-US" sz="1400" dirty="0" err="1"/>
              <a:t>si</a:t>
            </a:r>
            <a:r>
              <a:rPr lang="en-US" sz="1400" dirty="0"/>
              <a:t> Touring.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Unele</a:t>
            </a:r>
            <a:r>
              <a:rPr lang="en-US" sz="1400" dirty="0"/>
              <a:t> </a:t>
            </a:r>
            <a:r>
              <a:rPr lang="en-US" sz="1400" dirty="0" err="1"/>
              <a:t>produse</a:t>
            </a:r>
            <a:r>
              <a:rPr lang="en-US" sz="1400" dirty="0"/>
              <a:t> au </a:t>
            </a:r>
            <a:r>
              <a:rPr lang="en-US" sz="1400" dirty="0" err="1"/>
              <a:t>pierderi</a:t>
            </a:r>
            <a:r>
              <a:rPr lang="en-US" sz="1400" dirty="0"/>
              <a:t> </a:t>
            </a:r>
            <a:r>
              <a:rPr lang="en-US" sz="1400" dirty="0" err="1"/>
              <a:t>semnificative</a:t>
            </a:r>
            <a:r>
              <a:rPr lang="en-US" sz="1400" dirty="0"/>
              <a:t>, </a:t>
            </a:r>
            <a:r>
              <a:rPr lang="en-US" sz="1400" dirty="0" err="1"/>
              <a:t>ceea</a:t>
            </a:r>
            <a:r>
              <a:rPr lang="en-US" sz="1400" dirty="0"/>
              <a:t> </a:t>
            </a:r>
            <a:r>
              <a:rPr lang="en-US" sz="1400" dirty="0" err="1"/>
              <a:t>ce</a:t>
            </a:r>
            <a:r>
              <a:rPr lang="en-US" sz="1400" dirty="0"/>
              <a:t> </a:t>
            </a:r>
            <a:r>
              <a:rPr lang="en-US" sz="1400" dirty="0" err="1"/>
              <a:t>afecteaza</a:t>
            </a:r>
            <a:r>
              <a:rPr lang="en-US" sz="1400" dirty="0"/>
              <a:t> </a:t>
            </a:r>
            <a:r>
              <a:rPr lang="en-US" sz="1400" dirty="0" err="1"/>
              <a:t>rezultatul</a:t>
            </a:r>
            <a:r>
              <a:rPr lang="en-US" sz="1400" dirty="0"/>
              <a:t> total. </a:t>
            </a:r>
          </a:p>
          <a:p>
            <a:endParaRPr lang="en-US" dirty="0"/>
          </a:p>
        </p:txBody>
      </p:sp>
      <p:graphicFrame>
        <p:nvGraphicFramePr>
          <p:cNvPr id="11" name="Picture Placeholder 10">
            <a:extLst>
              <a:ext uri="{FF2B5EF4-FFF2-40B4-BE49-F238E27FC236}">
                <a16:creationId xmlns="" xmlns:a16="http://schemas.microsoft.com/office/drawing/2014/main" id="{2C1B24F3-D4DB-EB6E-F7E9-455DF2C88E50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1536491513"/>
              </p:ext>
            </p:extLst>
          </p:nvPr>
        </p:nvGraphicFramePr>
        <p:xfrm>
          <a:off x="4098925" y="1379537"/>
          <a:ext cx="781685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7011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DAF1966E-FD40-4A4A-B61B-C4DF7FA05F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047BFA19-D45E-416B-A404-7AF2F3F270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8E0105E7-23DB-4CF2-8258-FF47C7620F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EFE4CF-0C7A-5F89-8411-B132C87FF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9.Concluzii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074B4F7D-14B2-478B-8BF5-01E4E0C5D2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A069E79-B6D1-8BE4-CBAC-5FE13F716F8D}"/>
              </a:ext>
            </a:extLst>
          </p:cNvPr>
          <p:cNvSpPr txBox="1"/>
          <p:nvPr/>
        </p:nvSpPr>
        <p:spPr>
          <a:xfrm>
            <a:off x="1115568" y="2481942"/>
            <a:ext cx="10168128" cy="39506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sz="1600" dirty="0">
                <a:effectLst/>
              </a:rPr>
              <a:t>Analiza </a:t>
            </a:r>
            <a:r>
              <a:rPr lang="en-US" sz="1600" dirty="0" err="1">
                <a:effectLst/>
              </a:rPr>
              <a:t>datelor</a:t>
            </a:r>
            <a:r>
              <a:rPr lang="en-US" sz="1600" dirty="0">
                <a:effectLst/>
              </a:rPr>
              <a:t> de </a:t>
            </a:r>
            <a:r>
              <a:rPr lang="en-US" sz="1600" dirty="0" err="1">
                <a:effectLst/>
              </a:rPr>
              <a:t>vanzari</a:t>
            </a:r>
            <a:r>
              <a:rPr lang="en-US" sz="1600" dirty="0">
                <a:effectLst/>
              </a:rPr>
              <a:t> a </a:t>
            </a:r>
            <a:r>
              <a:rPr lang="en-US" sz="1600" dirty="0" err="1">
                <a:effectLst/>
              </a:rPr>
              <a:t>evidentiat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principalii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factori</a:t>
            </a:r>
            <a:r>
              <a:rPr lang="en-US" sz="1600" dirty="0">
                <a:effectLst/>
              </a:rPr>
              <a:t> care </a:t>
            </a:r>
            <a:r>
              <a:rPr lang="en-US" sz="1600" dirty="0" err="1">
                <a:effectLst/>
              </a:rPr>
              <a:t>influenteaza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profitabilitatea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companiei</a:t>
            </a:r>
            <a:r>
              <a:rPr lang="en-US" sz="1600" dirty="0">
                <a:effectLst/>
              </a:rPr>
              <a:t>: </a:t>
            </a:r>
            <a:r>
              <a:rPr lang="en-US" sz="1600" dirty="0" err="1">
                <a:effectLst/>
              </a:rPr>
              <a:t>sezonalitatea</a:t>
            </a:r>
            <a:r>
              <a:rPr lang="en-US" sz="1600" dirty="0">
                <a:effectLst/>
              </a:rPr>
              <a:t>, </a:t>
            </a:r>
            <a:r>
              <a:rPr lang="en-US" sz="1600" dirty="0" err="1">
                <a:effectLst/>
              </a:rPr>
              <a:t>discounturile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structura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categoriilor</a:t>
            </a:r>
            <a:r>
              <a:rPr lang="en-US" sz="1600" dirty="0">
                <a:effectLst/>
              </a:rPr>
              <a:t> de </a:t>
            </a:r>
            <a:r>
              <a:rPr lang="en-US" sz="1600" dirty="0" err="1">
                <a:effectLst/>
              </a:rPr>
              <a:t>produse</a:t>
            </a:r>
            <a:r>
              <a:rPr lang="en-US" sz="1600" dirty="0">
                <a:effectLst/>
              </a:rPr>
              <a:t>.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endParaRPr lang="en-US" sz="1600" dirty="0">
              <a:effectLst/>
            </a:endParaRPr>
          </a:p>
          <a:p>
            <a:pPr marL="457200" lvl="0" indent="-342900">
              <a:lnSpc>
                <a:spcPct val="90000"/>
              </a:lnSpc>
              <a:spcAft>
                <a:spcPts val="800"/>
              </a:spcAft>
              <a:buAutoNum type="arabicPeriod"/>
              <a:tabLst>
                <a:tab pos="457200" algn="l"/>
              </a:tabLst>
            </a:pPr>
            <a:r>
              <a:rPr lang="en-US" sz="1600" b="1" dirty="0" err="1">
                <a:effectLst/>
              </a:rPr>
              <a:t>Profitabilitatea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este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puternic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influentata</a:t>
            </a:r>
            <a:r>
              <a:rPr lang="en-US" sz="1600" b="1" dirty="0">
                <a:effectLst/>
              </a:rPr>
              <a:t> de </a:t>
            </a:r>
            <a:r>
              <a:rPr lang="en-US" sz="1600" b="1" dirty="0" err="1">
                <a:effectLst/>
              </a:rPr>
              <a:t>categorie</a:t>
            </a:r>
            <a:r>
              <a:rPr lang="en-US" sz="1600" b="1" dirty="0">
                <a:effectLst/>
              </a:rPr>
              <a:t>.</a:t>
            </a:r>
          </a:p>
          <a:p>
            <a:pPr marL="400050" lvl="0" indent="-28575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>
                <a:effectLst/>
              </a:rPr>
              <a:t>Categoria</a:t>
            </a:r>
            <a:r>
              <a:rPr lang="en-US" sz="1600" dirty="0">
                <a:effectLst/>
              </a:rPr>
              <a:t> Bikes </a:t>
            </a:r>
            <a:r>
              <a:rPr lang="en-US" sz="1600" dirty="0" err="1">
                <a:effectLst/>
              </a:rPr>
              <a:t>genereaza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cele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mai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mari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venituri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profit, </a:t>
            </a:r>
            <a:r>
              <a:rPr lang="en-US" sz="1600" dirty="0" err="1">
                <a:effectLst/>
              </a:rPr>
              <a:t>dar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este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mai</a:t>
            </a:r>
            <a:r>
              <a:rPr lang="en-US" sz="1600" dirty="0">
                <a:effectLst/>
              </a:rPr>
              <a:t> </a:t>
            </a:r>
            <a:r>
              <a:rPr lang="en-US" sz="1600" dirty="0" err="1"/>
              <a:t>instabila</a:t>
            </a:r>
            <a:r>
              <a:rPr lang="en-US" sz="1600" dirty="0">
                <a:effectLst/>
              </a:rPr>
              <a:t>.</a:t>
            </a:r>
          </a:p>
          <a:p>
            <a:pPr marL="400050" lvl="0" indent="-28575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it-IT" sz="1600" dirty="0"/>
              <a:t>Categoria Clothing contribuie la profitabilitate prin stabilitate, dar are un nivel scazut al marjei brute.</a:t>
            </a:r>
            <a:endParaRPr lang="en-US" sz="1600" dirty="0">
              <a:effectLst/>
            </a:endParaRPr>
          </a:p>
          <a:p>
            <a:pPr marL="400050" lvl="0" indent="-28575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/>
              <a:t>Categoria</a:t>
            </a:r>
            <a:r>
              <a:rPr lang="en-US" sz="1600" dirty="0"/>
              <a:t> </a:t>
            </a:r>
            <a:r>
              <a:rPr lang="en-US" sz="1600" dirty="0">
                <a:effectLst/>
              </a:rPr>
              <a:t>Accessories </a:t>
            </a:r>
            <a:r>
              <a:rPr lang="en-US" sz="1600" dirty="0" err="1">
                <a:effectLst/>
              </a:rPr>
              <a:t>este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mai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stabila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eficienta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categorie</a:t>
            </a:r>
            <a:r>
              <a:rPr lang="en-US" sz="1600" dirty="0"/>
              <a:t>.</a:t>
            </a:r>
          </a:p>
          <a:p>
            <a:pPr marL="400050" lvl="0" indent="-28575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>
                <a:effectLst/>
              </a:rPr>
              <a:t>Categoria</a:t>
            </a:r>
            <a:r>
              <a:rPr lang="en-US" sz="1600" dirty="0">
                <a:effectLst/>
              </a:rPr>
              <a:t> Components are </a:t>
            </a:r>
            <a:r>
              <a:rPr lang="en-US" sz="1600" dirty="0" err="1">
                <a:effectLst/>
              </a:rPr>
              <a:t>eficienta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scazuta</a:t>
            </a:r>
            <a:r>
              <a:rPr lang="en-US" sz="1600" dirty="0">
                <a:effectLst/>
              </a:rPr>
              <a:t>, cu </a:t>
            </a:r>
            <a:r>
              <a:rPr lang="en-US" sz="1600" dirty="0" err="1">
                <a:effectLst/>
              </a:rPr>
              <a:t>marje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reduse</a:t>
            </a:r>
            <a:r>
              <a:rPr lang="en-US" sz="1600" dirty="0">
                <a:effectLst/>
              </a:rPr>
              <a:t> constant. </a:t>
            </a:r>
          </a:p>
          <a:p>
            <a:pPr marL="114300" lvl="0">
              <a:lnSpc>
                <a:spcPct val="90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600" dirty="0">
              <a:effectLst/>
            </a:endParaRPr>
          </a:p>
          <a:p>
            <a:pPr marL="114300" lvl="0">
              <a:lnSpc>
                <a:spcPct val="9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600" b="1" dirty="0">
                <a:effectLst/>
              </a:rPr>
              <a:t>2. </a:t>
            </a:r>
            <a:r>
              <a:rPr lang="en-US" sz="1600" b="1" dirty="0" err="1">
                <a:effectLst/>
              </a:rPr>
              <a:t>Sezonalitatea</a:t>
            </a:r>
            <a:r>
              <a:rPr lang="en-US" sz="1600" b="1" dirty="0">
                <a:effectLst/>
              </a:rPr>
              <a:t> are impact </a:t>
            </a:r>
            <a:r>
              <a:rPr lang="en-US" sz="1600" b="1" dirty="0" err="1">
                <a:effectLst/>
              </a:rPr>
              <a:t>diferit</a:t>
            </a:r>
            <a:r>
              <a:rPr lang="en-US" sz="1600" b="1" dirty="0">
                <a:effectLst/>
              </a:rPr>
              <a:t> pe </a:t>
            </a:r>
            <a:r>
              <a:rPr lang="en-US" sz="1600" b="1" dirty="0" err="1">
                <a:effectLst/>
              </a:rPr>
              <a:t>categorii</a:t>
            </a:r>
            <a:r>
              <a:rPr lang="en-US" sz="1600" b="1" dirty="0">
                <a:effectLst/>
              </a:rPr>
              <a:t>.</a:t>
            </a:r>
          </a:p>
          <a:p>
            <a:pPr marL="457200" lvl="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</a:rPr>
              <a:t>Se </a:t>
            </a:r>
            <a:r>
              <a:rPr lang="en-US" sz="1600" dirty="0" err="1">
                <a:effectLst/>
              </a:rPr>
              <a:t>observa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variatii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clare</a:t>
            </a:r>
            <a:r>
              <a:rPr lang="en-US" sz="1600" dirty="0">
                <a:effectLst/>
              </a:rPr>
              <a:t> in special la </a:t>
            </a:r>
            <a:r>
              <a:rPr lang="en-US" sz="1600" dirty="0" err="1">
                <a:effectLst/>
              </a:rPr>
              <a:t>categoriile</a:t>
            </a:r>
            <a:r>
              <a:rPr lang="en-US" sz="1600" dirty="0">
                <a:effectLst/>
              </a:rPr>
              <a:t> Bikes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Components, </a:t>
            </a:r>
            <a:r>
              <a:rPr lang="en-US" sz="1600" dirty="0" err="1">
                <a:effectLst/>
              </a:rPr>
              <a:t>unde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profitabilitatea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fluctueaza</a:t>
            </a:r>
            <a:r>
              <a:rPr lang="en-US" sz="1600" dirty="0">
                <a:effectLst/>
              </a:rPr>
              <a:t> in </a:t>
            </a:r>
            <a:r>
              <a:rPr lang="en-US" sz="1600" dirty="0" err="1">
                <a:effectLst/>
              </a:rPr>
              <a:t>functie</a:t>
            </a:r>
            <a:r>
              <a:rPr lang="en-US" sz="1600" dirty="0">
                <a:effectLst/>
              </a:rPr>
              <a:t> de </a:t>
            </a:r>
            <a:r>
              <a:rPr lang="en-US" sz="1600" dirty="0" err="1">
                <a:effectLst/>
              </a:rPr>
              <a:t>lunile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anului</a:t>
            </a:r>
            <a:r>
              <a:rPr lang="en-US" sz="1600" dirty="0">
                <a:effectLst/>
              </a:rPr>
              <a:t>. </a:t>
            </a:r>
          </a:p>
          <a:p>
            <a:pPr marL="457200" lvl="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>
                <a:effectLst/>
              </a:rPr>
              <a:t>Categoriile</a:t>
            </a:r>
            <a:r>
              <a:rPr lang="en-US" sz="1600" dirty="0">
                <a:effectLst/>
              </a:rPr>
              <a:t> Clothing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Accessories sunt </a:t>
            </a:r>
            <a:r>
              <a:rPr lang="en-US" sz="1600" dirty="0" err="1">
                <a:effectLst/>
              </a:rPr>
              <a:t>mai</a:t>
            </a:r>
            <a:r>
              <a:rPr lang="en-US" sz="1600" dirty="0">
                <a:effectLst/>
              </a:rPr>
              <a:t> stabile, cu </a:t>
            </a:r>
            <a:r>
              <a:rPr lang="en-US" sz="1600" dirty="0" err="1">
                <a:effectLst/>
              </a:rPr>
              <a:t>variatii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reduse</a:t>
            </a:r>
            <a:r>
              <a:rPr lang="en-US" sz="1600" dirty="0"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68183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="" xmlns:a16="http://schemas.microsoft.com/office/drawing/2014/main" id="{DAF1966E-FD40-4A4A-B61B-C4DF7FA05F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="" xmlns:a16="http://schemas.microsoft.com/office/drawing/2014/main" id="{047BFA19-D45E-416B-A404-7AF2F3F270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8E0105E7-23DB-4CF2-8258-FF47C7620F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1560BE-8A7D-CA82-1FCB-FB514EBB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9.Concluzii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074B4F7D-14B2-478B-8BF5-01E4E0C5D2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EDE2025-3B37-DDEA-69BF-29B43A19C07F}"/>
              </a:ext>
            </a:extLst>
          </p:cNvPr>
          <p:cNvSpPr txBox="1"/>
          <p:nvPr/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9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600" b="1" dirty="0">
                <a:effectLst/>
              </a:rPr>
              <a:t>3. </a:t>
            </a:r>
            <a:r>
              <a:rPr lang="en-US" sz="1600" b="1" dirty="0" err="1">
                <a:effectLst/>
              </a:rPr>
              <a:t>Discounturile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influenteaza</a:t>
            </a:r>
            <a:r>
              <a:rPr lang="en-US" sz="1600" b="1" dirty="0">
                <a:effectLst/>
              </a:rPr>
              <a:t> direct </a:t>
            </a:r>
            <a:r>
              <a:rPr lang="en-US" sz="1600" b="1" dirty="0" err="1">
                <a:effectLst/>
              </a:rPr>
              <a:t>marja</a:t>
            </a:r>
            <a:r>
              <a:rPr lang="en-US" sz="1600" b="1" dirty="0">
                <a:effectLst/>
              </a:rPr>
              <a:t> de profit.</a:t>
            </a:r>
            <a:endParaRPr lang="en-US" sz="1600" dirty="0">
              <a:effectLst/>
            </a:endParaRPr>
          </a:p>
          <a:p>
            <a:pPr marL="114300" lvl="0"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/>
              <a:t>D</a:t>
            </a:r>
            <a:r>
              <a:rPr lang="en-US" sz="1600" dirty="0" err="1">
                <a:effectLst/>
              </a:rPr>
              <a:t>iscounturile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mari</a:t>
            </a:r>
            <a:r>
              <a:rPr lang="en-US" sz="1600" dirty="0">
                <a:effectLst/>
              </a:rPr>
              <a:t> sunt corelate cu </a:t>
            </a:r>
            <a:r>
              <a:rPr lang="en-US" sz="1600" dirty="0" err="1">
                <a:effectLst/>
              </a:rPr>
              <a:t>scaderea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marjei</a:t>
            </a:r>
            <a:r>
              <a:rPr lang="en-US" sz="1600" dirty="0">
                <a:effectLst/>
              </a:rPr>
              <a:t> brute</a:t>
            </a:r>
            <a:r>
              <a:rPr lang="en-US" sz="1600" dirty="0"/>
              <a:t> in </a:t>
            </a:r>
            <a:r>
              <a:rPr lang="en-US" sz="1600" dirty="0" err="1"/>
              <a:t>cazul</a:t>
            </a:r>
            <a:r>
              <a:rPr lang="en-US" sz="1600" dirty="0"/>
              <a:t> </a:t>
            </a:r>
            <a:r>
              <a:rPr lang="en-US" sz="1600" dirty="0" err="1"/>
              <a:t>categoriei</a:t>
            </a:r>
            <a:r>
              <a:rPr lang="en-US" sz="1600" dirty="0"/>
              <a:t> Bikes. </a:t>
            </a:r>
            <a:endParaRPr lang="en-US" sz="1600" dirty="0">
              <a:effectLst/>
            </a:endParaRPr>
          </a:p>
          <a:p>
            <a:pPr marL="114300" lvl="0"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/>
              <a:t>P</a:t>
            </a:r>
            <a:r>
              <a:rPr lang="en-US" sz="1600" dirty="0" err="1">
                <a:effectLst/>
              </a:rPr>
              <a:t>rofitabilitatea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ramane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ridicata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chiar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cu </a:t>
            </a:r>
            <a:r>
              <a:rPr lang="en-US" sz="1600" dirty="0" err="1">
                <a:effectLst/>
              </a:rPr>
              <a:t>discounturi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minime</a:t>
            </a:r>
            <a:r>
              <a:rPr lang="en-US" sz="1600" dirty="0"/>
              <a:t> in </a:t>
            </a:r>
            <a:r>
              <a:rPr lang="en-US" sz="1600" dirty="0" err="1"/>
              <a:t>segmentul</a:t>
            </a:r>
            <a:r>
              <a:rPr lang="en-US" sz="1600" dirty="0"/>
              <a:t> Accessories.</a:t>
            </a:r>
          </a:p>
          <a:p>
            <a:pPr lvl="0">
              <a:lnSpc>
                <a:spcPct val="90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600" dirty="0">
              <a:effectLst/>
            </a:endParaRPr>
          </a:p>
          <a:p>
            <a:pPr lvl="0">
              <a:lnSpc>
                <a:spcPct val="9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600" b="1" dirty="0">
                <a:effectLst/>
              </a:rPr>
              <a:t>4. Nu </a:t>
            </a:r>
            <a:r>
              <a:rPr lang="en-US" sz="1600" b="1" dirty="0" err="1">
                <a:effectLst/>
              </a:rPr>
              <a:t>toate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vanzarile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mari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inseamna</a:t>
            </a:r>
            <a:r>
              <a:rPr lang="en-US" sz="1600" b="1" dirty="0">
                <a:effectLst/>
              </a:rPr>
              <a:t> profit mare.</a:t>
            </a:r>
            <a:endParaRPr lang="en-US" sz="1600" dirty="0">
              <a:effectLst/>
            </a:endParaRPr>
          </a:p>
          <a:p>
            <a:pPr marL="114300" lvl="0"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>
                <a:effectLst/>
              </a:rPr>
              <a:t>Unele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categorii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produse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genereaza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venituri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ridicate</a:t>
            </a:r>
            <a:r>
              <a:rPr lang="en-US" sz="1600" dirty="0">
                <a:effectLst/>
              </a:rPr>
              <a:t>, </a:t>
            </a:r>
            <a:r>
              <a:rPr lang="en-US" sz="1600" dirty="0" err="1">
                <a:effectLst/>
              </a:rPr>
              <a:t>dar</a:t>
            </a:r>
            <a:r>
              <a:rPr lang="en-US" sz="1600" dirty="0">
                <a:effectLst/>
              </a:rPr>
              <a:t> au </a:t>
            </a:r>
            <a:r>
              <a:rPr lang="en-US" sz="1600" dirty="0" err="1">
                <a:effectLst/>
              </a:rPr>
              <a:t>marje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reduse</a:t>
            </a:r>
            <a:r>
              <a:rPr lang="en-US" sz="1600" dirty="0">
                <a:effectLst/>
              </a:rPr>
              <a:t> din </a:t>
            </a:r>
            <a:r>
              <a:rPr lang="en-US" sz="1600" dirty="0" err="1">
                <a:effectLst/>
              </a:rPr>
              <a:t>cauza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discounturilor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sau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costurilor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mari</a:t>
            </a:r>
            <a:r>
              <a:rPr lang="en-US" sz="1600" dirty="0">
                <a:effectLst/>
              </a:rPr>
              <a:t> </a:t>
            </a:r>
            <a:r>
              <a:rPr lang="en-US" sz="1600" dirty="0" err="1"/>
              <a:t>asa</a:t>
            </a:r>
            <a:r>
              <a:rPr lang="en-US" sz="1600" dirty="0"/>
              <a:t> cum se </a:t>
            </a:r>
            <a:r>
              <a:rPr lang="en-US" sz="1600" dirty="0" err="1"/>
              <a:t>poate</a:t>
            </a:r>
            <a:r>
              <a:rPr lang="en-US" sz="1600" dirty="0"/>
              <a:t> </a:t>
            </a:r>
            <a:r>
              <a:rPr lang="en-US" sz="1600" dirty="0" err="1"/>
              <a:t>observa</a:t>
            </a:r>
            <a:r>
              <a:rPr lang="en-US" sz="1600" dirty="0"/>
              <a:t> in </a:t>
            </a:r>
            <a:r>
              <a:rPr lang="en-US" sz="1600" dirty="0" err="1"/>
              <a:t>categoria</a:t>
            </a:r>
            <a:r>
              <a:rPr lang="en-US" sz="1600" dirty="0"/>
              <a:t> </a:t>
            </a:r>
            <a:r>
              <a:rPr lang="en-US" sz="1600" dirty="0">
                <a:effectLst/>
              </a:rPr>
              <a:t>Components. </a:t>
            </a:r>
          </a:p>
          <a:p>
            <a:pPr marL="114300" lvl="0"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>
                <a:effectLst/>
              </a:rPr>
              <a:t>Volumul</a:t>
            </a:r>
            <a:r>
              <a:rPr lang="en-US" sz="1600" dirty="0">
                <a:effectLst/>
              </a:rPr>
              <a:t> de </a:t>
            </a:r>
            <a:r>
              <a:rPr lang="en-US" sz="1600" dirty="0" err="1">
                <a:effectLst/>
              </a:rPr>
              <a:t>vanzari</a:t>
            </a:r>
            <a:r>
              <a:rPr lang="en-US" sz="1600" dirty="0">
                <a:effectLst/>
              </a:rPr>
              <a:t> nu </a:t>
            </a:r>
            <a:r>
              <a:rPr lang="en-US" sz="1600" dirty="0" err="1">
                <a:effectLst/>
              </a:rPr>
              <a:t>este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suficient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pentru</a:t>
            </a:r>
            <a:r>
              <a:rPr lang="en-US" sz="1600" dirty="0">
                <a:effectLst/>
              </a:rPr>
              <a:t> a genera profit.</a:t>
            </a:r>
          </a:p>
        </p:txBody>
      </p:sp>
    </p:spTree>
    <p:extLst>
      <p:ext uri="{BB962C8B-B14F-4D97-AF65-F5344CB8AC3E}">
        <p14:creationId xmlns:p14="http://schemas.microsoft.com/office/powerpoint/2010/main" val="2427855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DAF1966E-FD40-4A4A-B61B-C4DF7FA05F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047BFA19-D45E-416B-A404-7AF2F3F270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8E0105E7-23DB-4CF2-8258-FF47C7620F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711620-ECD5-8159-4D9F-C95EF9768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10.Directii de </a:t>
            </a:r>
            <a:r>
              <a:rPr lang="en-US" sz="4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optimizare</a:t>
            </a:r>
            <a:endParaRPr lang="en-US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074B4F7D-14B2-478B-8BF5-01E4E0C5D2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6F85184-058E-4AC9-AAC5-94EE87A61DE4}"/>
              </a:ext>
            </a:extLst>
          </p:cNvPr>
          <p:cNvSpPr txBox="1"/>
          <p:nvPr/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sz="1600" dirty="0" err="1">
                <a:effectLst/>
              </a:rPr>
              <a:t>Exista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oportunitati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clare</a:t>
            </a:r>
            <a:r>
              <a:rPr lang="en-US" sz="1600" dirty="0">
                <a:effectLst/>
              </a:rPr>
              <a:t> de </a:t>
            </a:r>
            <a:r>
              <a:rPr lang="en-US" sz="1600" dirty="0" err="1">
                <a:effectLst/>
              </a:rPr>
              <a:t>optimizare</a:t>
            </a:r>
            <a:r>
              <a:rPr lang="en-US" sz="1600" dirty="0">
                <a:effectLst/>
              </a:rPr>
              <a:t>. </a:t>
            </a:r>
            <a:r>
              <a:rPr lang="en-US" sz="1600" dirty="0" err="1">
                <a:effectLst/>
              </a:rPr>
              <a:t>Optimizarea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discounturilor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ajustarea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portofoliului</a:t>
            </a:r>
            <a:r>
              <a:rPr lang="en-US" sz="1600" dirty="0">
                <a:effectLst/>
              </a:rPr>
              <a:t> de </a:t>
            </a:r>
            <a:r>
              <a:rPr lang="en-US" sz="1600" dirty="0" err="1">
                <a:effectLst/>
              </a:rPr>
              <a:t>produse</a:t>
            </a:r>
            <a:r>
              <a:rPr lang="en-US" sz="1600" dirty="0">
                <a:effectLst/>
              </a:rPr>
              <a:t> pot </a:t>
            </a:r>
            <a:r>
              <a:rPr lang="en-US" sz="1600" dirty="0" err="1">
                <a:effectLst/>
              </a:rPr>
              <a:t>imbunatati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semnificativ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profitabilitatea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generala</a:t>
            </a:r>
            <a:r>
              <a:rPr lang="en-US" sz="1600" dirty="0">
                <a:effectLst/>
              </a:rPr>
              <a:t>.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sz="1600" b="1" u="sng" dirty="0"/>
              <a:t>Plan de </a:t>
            </a:r>
            <a:r>
              <a:rPr lang="en-US" sz="1600" b="1" u="sng" dirty="0" err="1"/>
              <a:t>actiune</a:t>
            </a:r>
            <a:endParaRPr lang="en-US" sz="1600" b="1" u="sng" dirty="0">
              <a:effectLst/>
            </a:endParaRPr>
          </a:p>
          <a:p>
            <a:pPr marL="342900" lvl="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>
                <a:effectLst/>
              </a:rPr>
              <a:t>Optimizarea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discounturilor</a:t>
            </a:r>
            <a:r>
              <a:rPr lang="en-US" sz="1600" dirty="0">
                <a:effectLst/>
              </a:rPr>
              <a:t> la </a:t>
            </a:r>
            <a:r>
              <a:rPr lang="en-US" sz="1600" dirty="0" err="1">
                <a:effectLst/>
              </a:rPr>
              <a:t>categoria</a:t>
            </a:r>
            <a:r>
              <a:rPr lang="en-US" sz="1600" dirty="0">
                <a:effectLst/>
              </a:rPr>
              <a:t> Bikes, in special in </a:t>
            </a:r>
            <a:r>
              <a:rPr lang="en-US" sz="1600" dirty="0" err="1">
                <a:effectLst/>
              </a:rPr>
              <a:t>perioadele</a:t>
            </a:r>
            <a:r>
              <a:rPr lang="en-US" sz="1600" dirty="0">
                <a:effectLst/>
              </a:rPr>
              <a:t> cu </a:t>
            </a:r>
            <a:r>
              <a:rPr lang="en-US" sz="1600" dirty="0" err="1">
                <a:effectLst/>
              </a:rPr>
              <a:t>cerere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ridicata</a:t>
            </a:r>
            <a:r>
              <a:rPr lang="en-US" sz="1600" dirty="0">
                <a:effectLst/>
              </a:rPr>
              <a:t>, </a:t>
            </a:r>
            <a:r>
              <a:rPr lang="en-US" sz="1600" dirty="0" err="1">
                <a:effectLst/>
              </a:rPr>
              <a:t>pentru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evolutia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marjei</a:t>
            </a:r>
            <a:r>
              <a:rPr lang="en-US" sz="1600" dirty="0">
                <a:effectLst/>
              </a:rPr>
              <a:t>. </a:t>
            </a:r>
          </a:p>
          <a:p>
            <a:pPr marL="342900" lvl="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>
                <a:effectLst/>
              </a:rPr>
              <a:t>Reevaluarea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categoriei</a:t>
            </a:r>
            <a:r>
              <a:rPr lang="en-US" sz="1600" dirty="0">
                <a:effectLst/>
              </a:rPr>
              <a:t> Components</a:t>
            </a:r>
            <a:r>
              <a:rPr lang="en-US" sz="1600" dirty="0"/>
              <a:t> </a:t>
            </a:r>
            <a:r>
              <a:rPr lang="en-US" sz="1600" dirty="0" err="1"/>
              <a:t>avand</a:t>
            </a:r>
            <a:r>
              <a:rPr lang="en-US" sz="1600" dirty="0"/>
              <a:t> in </a:t>
            </a:r>
            <a:r>
              <a:rPr lang="en-US" sz="1600" dirty="0" err="1"/>
              <a:t>vedere</a:t>
            </a:r>
            <a:r>
              <a:rPr lang="en-US" sz="1600" dirty="0"/>
              <a:t> </a:t>
            </a:r>
            <a:r>
              <a:rPr lang="en-US" sz="1600" dirty="0" err="1">
                <a:effectLst/>
              </a:rPr>
              <a:t>marja</a:t>
            </a:r>
            <a:r>
              <a:rPr lang="en-US" sz="1600" dirty="0">
                <a:effectLst/>
              </a:rPr>
              <a:t> constant </a:t>
            </a:r>
            <a:r>
              <a:rPr lang="en-US" sz="1600" dirty="0" err="1">
                <a:effectLst/>
              </a:rPr>
              <a:t>scazuta</a:t>
            </a:r>
            <a:r>
              <a:rPr lang="en-US" sz="1600" dirty="0">
                <a:effectLst/>
              </a:rPr>
              <a:t>. </a:t>
            </a:r>
          </a:p>
          <a:p>
            <a:pPr marL="342900" lvl="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 err="1">
                <a:effectLst/>
              </a:rPr>
              <a:t>Mentinerea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strategiei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actuale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pentru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segmentul</a:t>
            </a:r>
            <a:r>
              <a:rPr lang="en-US" sz="1600" dirty="0">
                <a:effectLst/>
              </a:rPr>
              <a:t> Accessories, </a:t>
            </a:r>
            <a:r>
              <a:rPr lang="en-US" sz="1600" dirty="0" err="1">
                <a:effectLst/>
              </a:rPr>
              <a:t>categorie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stabila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si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eficienta</a:t>
            </a:r>
            <a:r>
              <a:rPr lang="en-US" sz="1600" dirty="0">
                <a:effectLst/>
              </a:rPr>
              <a:t>. </a:t>
            </a:r>
          </a:p>
          <a:p>
            <a:pPr marL="342900" lvl="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</a:rPr>
              <a:t>Focus pe </a:t>
            </a:r>
            <a:r>
              <a:rPr lang="en-US" sz="1600" dirty="0" err="1">
                <a:effectLst/>
              </a:rPr>
              <a:t>produsele</a:t>
            </a:r>
            <a:r>
              <a:rPr lang="en-US" sz="1600" dirty="0">
                <a:effectLst/>
              </a:rPr>
              <a:t> cu </a:t>
            </a:r>
            <a:r>
              <a:rPr lang="en-US" sz="1600" dirty="0" err="1">
                <a:effectLst/>
              </a:rPr>
              <a:t>profitabilitate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ridicata</a:t>
            </a:r>
            <a:r>
              <a:rPr lang="en-US" sz="1600" dirty="0">
                <a:effectLst/>
              </a:rPr>
              <a:t> (ex. Mountain-200) </a:t>
            </a:r>
            <a:r>
              <a:rPr lang="en-US" sz="1600" dirty="0" err="1">
                <a:effectLst/>
              </a:rPr>
              <a:t>pentru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maximizarea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profitului</a:t>
            </a:r>
            <a:r>
              <a:rPr lang="en-US" sz="1600" dirty="0">
                <a:effectLst/>
              </a:rPr>
              <a:t> total.</a:t>
            </a:r>
          </a:p>
        </p:txBody>
      </p:sp>
    </p:spTree>
    <p:extLst>
      <p:ext uri="{BB962C8B-B14F-4D97-AF65-F5344CB8AC3E}">
        <p14:creationId xmlns:p14="http://schemas.microsoft.com/office/powerpoint/2010/main" val="133654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846</TotalTime>
  <Words>1101</Words>
  <Application>Microsoft Office PowerPoint</Application>
  <PresentationFormat>Custom</PresentationFormat>
  <Paragraphs>175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  Analiza Profitabilitatii  Proiect SQL-Analiza datelor AdventureWorks  </vt:lpstr>
      <vt:lpstr>1.Profilul companiei-AdventureWorks</vt:lpstr>
      <vt:lpstr>2.Obiective</vt:lpstr>
      <vt:lpstr>3.Sursa datelor</vt:lpstr>
      <vt:lpstr>4.Baza de date pentru analiza profitabilitatii</vt:lpstr>
      <vt:lpstr>  5.Dinamica sezoniera a marjei si discountului  </vt:lpstr>
      <vt:lpstr>5.Dinamica sezoniera a marjei si discountului</vt:lpstr>
      <vt:lpstr>6.Evolutia venitului si a marjei</vt:lpstr>
      <vt:lpstr>6.Evolutia venitului si a marjei</vt:lpstr>
      <vt:lpstr>7.Analiza marjei si a discountului pe categorii</vt:lpstr>
      <vt:lpstr>8.Top produse marja ridicata vs. scazuta </vt:lpstr>
      <vt:lpstr>9.Concluzii</vt:lpstr>
      <vt:lpstr>9.Concluzii</vt:lpstr>
      <vt:lpstr>10.Directii de optimizare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Analiza Profitabilitatii  Proiect SQL-Analiza datelor AdventureWorks  </dc:title>
  <dc:creator>Ramona Manolache</dc:creator>
  <cp:lastModifiedBy>NEXT_COLOR</cp:lastModifiedBy>
  <cp:revision>56</cp:revision>
  <dcterms:created xsi:type="dcterms:W3CDTF">2026-04-06T16:29:19Z</dcterms:created>
  <dcterms:modified xsi:type="dcterms:W3CDTF">2026-10-16T09:38:58Z</dcterms:modified>
</cp:coreProperties>
</file>